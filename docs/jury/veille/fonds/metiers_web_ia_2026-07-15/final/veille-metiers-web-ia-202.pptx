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Cette semaine, je change un peu d'angle par rapport à nos veilles habituelles : je pars du numérique, mais pour rester sur notre fil rouge social et économique. Le sujet : comment l'IA générative et agentique transforme concrètement les métiers du web, et surtout comment elle change la donne pour les jeunes qui entrent sur ce marché.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départ : un article du Blog du Numérique sur les robots IA qui parcourent nos sites. Il y a trois familles de bots, avec des logiques différentes — entraînement, indexation pour les réponses IA, et bots déclenchés par un utilisateur qui pose une vraie question. Le chiffre à retenir : Claude génère 70 900 requêtes par page visitée générée, contre 9,4 pour Google — un rapport de 1 à 7500. Et le robots.txt ne suffit plus, certains moteurs ne s'engagent plus à le respecter.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de mon propos aujourd'hui. En creusant les 5 métiers du web, un fil rouge est ressorti plus fort que prévu : ce n'est pas l'emploi existant qui disparaît, c'est la porte d'entrée qui se referme. Trois études indépendantes convergent : Stanford mesure -20% d'emploi chez les développeurs juniors américains depuis fin 2022 ; l'APEC mesure -18% de recrutements de cadres IT en France en 2024 ; l'INSEE confirme un recul de 3% de l'emploi IT français porté quasi exclusivement par les moins de 30 ans. Le mécanisme est clair : pas de vague de licenciements, mais un ralentissement des embauches sur les postes d'entrée.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zoom métier : le développeur web, celui qui me concerne directement. L'IA absorbe très bien le boilerplate, le debug simple, la documentation — Copilot génère 46% du code de ses utilisateurs, et les questions sur Stack Overflow ont chuté de 35% depuis 2023. Mais elle ne remplace pas l'architecture, la sécurité, le debug complexe. Résultat : les tâches d'entrée de gamme s'automatisent, les seniors et architectes n'ont jamais été aussi demandés.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sur ce métier, puisque c'est ma propre reconversion : j'ai passé les 8 compétences du référentiel officiel du titre professionnel développeur web et web mobile au crible de l'exposition à l'IA. Le classement suit exactement le même principe que celui qu'on vient de voir : les compétences procédurales et normées — réaliser des interfaces statiques, les accès aux données SQL, documenter un déploiement — sont fortement automatisables. Celles qui demandent un vrai jugement contextuel, comme développer des composants métier sécurisés côté serveur, résistent nettement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Puisqu'on est dans le détail : le titre professionnel concepteur développeur d'applications, le CDA, partage beaucoup avec le DWWM mais va plus loin sur l'architecture et la gestion de projet. Onze compétences cette fois, avec un profil un peu différent : les tests et le déploiement restent très automatisables, mais l'architecture logicielle, la gestion de projet et les composants métier concentrent une bonne part de compétences en "faible-moyen" — c'est le titre le plus proche du profil senior au sens propre.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zoom : le designer web, devenu CDUI en 2021. Le glissement est net : on passe du dessin d'écrans à l'orchestration de systèmes de design, qui servent de garde-fou à la génération d'interfaces par l'IA. Le signal est pourtant alarmant : ce métier est classé 11e position la plus menacée par le WEF sur 55 pays, et IBM estime qu'un designer généraliste pilotant l'IA peut remplacer 4 spécialistes. Contrepoint : 91% des designers Figma disent que l'IA les aide à monter en compétence — ce n'est donc pas noir ou blanc.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exercice que pour les développeurs, cette fois sur le référentiel officiel du concepteur designer UI. Neuf compétences, et le même clivage apparaît : la génération d'illustrations, l'intégration de pages web ou la configuration de CMS sont fortement automatisables, l'IA générative d'image excelle particulièrement sur la première. À l'inverse, la direction artistique, la traduction fidèle du besoin utilisateur, et la stratégie webmarketing orientée business restent des compétences où le jugement humain fait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métier le plus exposé sur le papier : le rédacteur web. Jusqu'à 57% des postes seraient potentiellement automatisables selon une étude de Tufts University. La mutation attendue, c'est le passage de producteur de texte à architecte éditorial : piloter des workflows hybrides, maîtriser le GEO, et miser sur les critères E-E-A-T — expertise, autorité, fiabilité — comme différenciateur face au contenu généré en masse.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autres métiers, avec des trajectoires opposées. Le community manager est tiraillé entre deux pôles : la production de contenu s'automatise, mais la gestion de crise et la nuance culturelle restent irremplaçables — avec un contexte de métier déjà sous tension, 97,8% déclarent du stress. À l'inverse, le chef de projet web est le profil le moins menacé : l'IA automatise le suivi et l'analyse prédictive, ce qui libère du temps pour l'arbitrage et le leadership. Un nouveau rôle hybride émerge même : chef de projet IA agentique.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remettre tout ça en perspective à l'échelle macro : Coface évalue à 3,8% la part de l'emploi français fragilisée par l'IA générative sur 923 métiers étudiés. Une compilation OCDE/McKinsey/FMI estime que 93% des métiers seront impactés d'ici 2026, avec un gain moyen de 25% de salaire pour les profils qui maîtrisent ces outils. Et 48% des Français utilisent déjà l'IA générative, mais 4 sur 10 rencontrent encore des freins d'usage numérique — la fracture se creuse à plusieurs niveaux.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voudrais insister sur deux tensions qui ne sont pas résolues par le discours ambiant du "la valeur se déplace vers le jugement". Premièrement, un décalage identitaire : on choisit ce métier pour faire de la tech, et de plus en plus on se retrouve à superviser du code plutôt qu'à l'écrire — c'est le vibe coding, et ce n'est pas la même activité même si le titre du poste ne change pas. Deuxièmement, et c'est peut-être le plus grave : avant de courir il faut savoir marcher, mais marcher ne rapporte plus. Les tâches juniors qu'on a vues comme "fortement automatisables" dans nos deux grilles n'étaient pas que des corvées à faible valeur : c'était le terrain d'entraînement du jugement senior. Si l'IA les absorbe avant que les juniors les pratiquent, on ne réduit pas seulement le nombre de postes d'entrée, on risque de couper la chaîne de transmission du métier lui-même. Je vous laisse la parole pour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mes sources pour ceux qui veulent creuser ou vérifier les chiffres par eux-mêmes. J'ai gardé une trace des deux référentiels officiels également, puisque c'est sur eux que je me suis appuyé pour les deux grilles d'analyse. Deux ou trois chiffres macro restent à recouper avec leur source primaire exacte avant citation formelle, je l'ai noté honnêtement.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263477"/>
          </a:solidFill>
          <a:ln/>
        </p:spPr>
      </p:sp>
      <p:sp>
        <p:nvSpPr>
          <p:cNvPr id="3" name="Shape 1"/>
          <p:cNvSpPr/>
          <p:nvPr/>
        </p:nvSpPr>
        <p:spPr>
          <a:xfrm>
            <a:off x="-1371600" y="4572000"/>
            <a:ext cx="3657600" cy="3657600"/>
          </a:xfrm>
          <a:prstGeom prst="ellipse">
            <a:avLst/>
          </a:prstGeom>
          <a:solidFill>
            <a:srgbClr val="263477"/>
          </a:solidFill>
          <a:ln/>
        </p:spPr>
      </p:sp>
      <p:sp>
        <p:nvSpPr>
          <p:cNvPr id="4" name="Text 2"/>
          <p:cNvSpPr/>
          <p:nvPr/>
        </p:nvSpPr>
        <p:spPr>
          <a:xfrm>
            <a:off x="731520" y="1828800"/>
            <a:ext cx="7315200" cy="365760"/>
          </a:xfrm>
          <a:prstGeom prst="rect">
            <a:avLst/>
          </a:prstGeom>
          <a:noFill/>
          <a:ln/>
        </p:spPr>
        <p:txBody>
          <a:bodyPr wrap="square" lIns="0" tIns="0" rIns="0" bIns="0" rtlCol="0" anchor="ctr"/>
          <a:lstStyle/>
          <a:p>
            <a:pPr indent="0" marL="0">
              <a:buNone/>
            </a:pPr>
            <a:r>
              <a:rPr lang="en-US" sz="1300" b="1" spc="150" kern="0" dirty="0">
                <a:solidFill>
                  <a:srgbClr val="E8542B"/>
                </a:solidFill>
                <a:latin typeface="Calibri" pitchFamily="34" charset="0"/>
                <a:ea typeface="Calibri" pitchFamily="34" charset="-122"/>
                <a:cs typeface="Calibri" pitchFamily="34" charset="-120"/>
              </a:rPr>
              <a:t>VEILLE NUMÉRIQUE — JUILLET 2026</a:t>
            </a:r>
            <a:endParaRPr lang="en-US" sz="1300" dirty="0"/>
          </a:p>
        </p:txBody>
      </p:sp>
      <p:sp>
        <p:nvSpPr>
          <p:cNvPr id="5" name="Text 3"/>
          <p:cNvSpPr/>
          <p:nvPr/>
        </p:nvSpPr>
        <p:spPr>
          <a:xfrm>
            <a:off x="731520" y="2194560"/>
            <a:ext cx="9601200" cy="201168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L'IA bouleverse</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les métiers du web</a:t>
            </a:r>
            <a:endParaRPr lang="en-US" sz="4600" dirty="0"/>
          </a:p>
        </p:txBody>
      </p:sp>
      <p:sp>
        <p:nvSpPr>
          <p:cNvPr id="6" name="Text 4"/>
          <p:cNvSpPr/>
          <p:nvPr/>
        </p:nvSpPr>
        <p:spPr>
          <a:xfrm>
            <a:off x="731520" y="4160520"/>
            <a:ext cx="8686800" cy="54864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Ce qui s'automatise, ce qui reste humain — et une porte d'entrée qui se referme</a:t>
            </a:r>
            <a:endParaRPr lang="en-US" sz="1600" dirty="0"/>
          </a:p>
        </p:txBody>
      </p:sp>
      <p:sp>
        <p:nvSpPr>
          <p:cNvPr id="7" name="Shape 5"/>
          <p:cNvSpPr/>
          <p:nvPr/>
        </p:nvSpPr>
        <p:spPr>
          <a:xfrm>
            <a:off x="731520" y="5120640"/>
            <a:ext cx="502920" cy="502920"/>
          </a:xfrm>
          <a:prstGeom prst="ellipse">
            <a:avLst/>
          </a:prstGeom>
          <a:solidFill>
            <a:srgbClr val="334289"/>
          </a:solidFill>
          <a:ln/>
        </p:spPr>
      </p:sp>
      <p:pic>
        <p:nvPicPr>
          <p:cNvPr id="8" name="Image 0" descr="/home/claude/veille-deck/icons/robot.png">    </p:cNvPr>
          <p:cNvPicPr>
            <a:picLocks noChangeAspect="1"/>
          </p:cNvPicPr>
          <p:nvPr/>
        </p:nvPicPr>
        <p:blipFill>
          <a:blip r:embed="rId1"/>
          <a:stretch>
            <a:fillRect/>
          </a:stretch>
        </p:blipFill>
        <p:spPr>
          <a:xfrm>
            <a:off x="786841" y="5175961"/>
            <a:ext cx="392278" cy="392278"/>
          </a:xfrm>
          <a:prstGeom prst="rect">
            <a:avLst/>
          </a:prstGeom>
        </p:spPr>
      </p:pic>
      <p:sp>
        <p:nvSpPr>
          <p:cNvPr id="9" name="Text 6"/>
          <p:cNvSpPr/>
          <p:nvPr/>
        </p:nvSpPr>
        <p:spPr>
          <a:xfrm>
            <a:off x="1417320" y="5120640"/>
            <a:ext cx="822960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Développeurs · Designers · Rédacteurs · Community managers · Chefs de projet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CONTEXTE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 déclencheur : les robots IA envahissent le web</a:t>
            </a:r>
            <a:endParaRPr lang="en-US" sz="3000" dirty="0"/>
          </a:p>
        </p:txBody>
      </p:sp>
      <p:sp>
        <p:nvSpPr>
          <p:cNvPr id="4" name="Shape 2"/>
          <p:cNvSpPr/>
          <p:nvPr/>
        </p:nvSpPr>
        <p:spPr>
          <a:xfrm>
            <a:off x="548640" y="1737360"/>
            <a:ext cx="548640" cy="548640"/>
          </a:xfrm>
          <a:prstGeom prst="ellipse">
            <a:avLst/>
          </a:prstGeom>
          <a:solidFill>
            <a:srgbClr val="1E2761"/>
          </a:solidFill>
          <a:ln/>
        </p:spPr>
      </p:sp>
      <p:pic>
        <p:nvPicPr>
          <p:cNvPr id="5" name="Image 0" descr="/home/claude/veille-deck/icons/robot.png">    </p:cNvPr>
          <p:cNvPicPr>
            <a:picLocks noChangeAspect="1"/>
          </p:cNvPicPr>
          <p:nvPr/>
        </p:nvPicPr>
        <p:blipFill>
          <a:blip r:embed="rId1"/>
          <a:stretch>
            <a:fillRect/>
          </a:stretch>
        </p:blipFill>
        <p:spPr>
          <a:xfrm>
            <a:off x="608990" y="1797710"/>
            <a:ext cx="427939" cy="427939"/>
          </a:xfrm>
          <a:prstGeom prst="rect">
            <a:avLst/>
          </a:prstGeom>
        </p:spPr>
      </p:pic>
      <p:sp>
        <p:nvSpPr>
          <p:cNvPr id="6" name="Text 3"/>
          <p:cNvSpPr/>
          <p:nvPr/>
        </p:nvSpPr>
        <p:spPr>
          <a:xfrm>
            <a:off x="1280160" y="1691640"/>
            <a:ext cx="5852160" cy="1737360"/>
          </a:xfrm>
          <a:prstGeom prst="rect">
            <a:avLst/>
          </a:prstGeom>
          <a:noFill/>
          <a:ln/>
        </p:spPr>
        <p:txBody>
          <a:bodyPr wrap="square" lIns="0" tIns="0" rIns="0" bIns="0" rtlCol="0" anchor="t"/>
          <a:lstStyle/>
          <a:p>
            <a:pPr indent="0" marL="0">
              <a:lnSpc>
                <a:spcPct val="125000"/>
              </a:lnSpc>
              <a:buNone/>
            </a:pPr>
            <a:r>
              <a:rPr lang="en-US" sz="1450" dirty="0">
                <a:solidFill>
                  <a:srgbClr val="1F1F1F"/>
                </a:solidFill>
                <a:latin typeface="Calibri" pitchFamily="34" charset="0"/>
                <a:ea typeface="Calibri" pitchFamily="34" charset="-122"/>
                <a:cs typeface="Calibri" pitchFamily="34" charset="-120"/>
              </a:rPr>
              <a:t>Trois familles de bots IA se répartissent le trafic d'un site : </a:t>
            </a:r>
            <a:pPr indent="0" marL="0">
              <a:lnSpc>
                <a:spcPct val="125000"/>
              </a:lnSpc>
              <a:buNone/>
            </a:pPr>
            <a:r>
              <a:rPr lang="en-US" sz="1450" b="1" dirty="0">
                <a:solidFill>
                  <a:srgbClr val="1E2761"/>
                </a:solidFill>
                <a:latin typeface="Calibri" pitchFamily="34" charset="0"/>
                <a:ea typeface="Calibri" pitchFamily="34" charset="-122"/>
                <a:cs typeface="Calibri" pitchFamily="34" charset="-120"/>
              </a:rPr>
              <a:t>entraînement</a:t>
            </a:r>
            <a:pPr indent="0" marL="0">
              <a:lnSpc>
                <a:spcPct val="125000"/>
              </a:lnSpc>
              <a:buNone/>
            </a:pPr>
            <a:r>
              <a:rPr lang="en-US" sz="1450" dirty="0">
                <a:solidFill>
                  <a:srgbClr val="1F1F1F"/>
                </a:solidFill>
                <a:latin typeface="Calibri" pitchFamily="34" charset="0"/>
                <a:ea typeface="Calibri" pitchFamily="34" charset="-122"/>
                <a:cs typeface="Calibri" pitchFamily="34" charset="-120"/>
              </a:rPr>
              <a:t> (nourrit les modèles, aucun retour), </a:t>
            </a:r>
            <a:pPr indent="0" marL="0">
              <a:lnSpc>
                <a:spcPct val="125000"/>
              </a:lnSpc>
              <a:buNone/>
            </a:pPr>
            <a:r>
              <a:rPr lang="en-US" sz="1450" b="1" dirty="0">
                <a:solidFill>
                  <a:srgbClr val="1E2761"/>
                </a:solidFill>
                <a:latin typeface="Calibri" pitchFamily="34" charset="0"/>
                <a:ea typeface="Calibri" pitchFamily="34" charset="-122"/>
                <a:cs typeface="Calibri" pitchFamily="34" charset="-120"/>
              </a:rPr>
              <a:t>indexation pour réponses IA</a:t>
            </a:r>
            <a:pPr indent="0" marL="0">
              <a:lnSpc>
                <a:spcPct val="125000"/>
              </a:lnSpc>
              <a:buNone/>
            </a:pPr>
            <a:r>
              <a:rPr lang="en-US" sz="1450" dirty="0">
                <a:solidFill>
                  <a:srgbClr val="1F1F1F"/>
                </a:solidFill>
                <a:latin typeface="Calibri" pitchFamily="34" charset="0"/>
                <a:ea typeface="Calibri" pitchFamily="34" charset="-122"/>
                <a:cs typeface="Calibri" pitchFamily="34" charset="-120"/>
              </a:rPr>
              <a:t> (vise la citation), et bots </a:t>
            </a:r>
            <a:pPr indent="0" marL="0">
              <a:lnSpc>
                <a:spcPct val="125000"/>
              </a:lnSpc>
              <a:buNone/>
            </a:pPr>
            <a:r>
              <a:rPr lang="en-US" sz="1450" b="1" dirty="0">
                <a:solidFill>
                  <a:srgbClr val="1E2761"/>
                </a:solidFill>
                <a:latin typeface="Calibri" pitchFamily="34" charset="0"/>
                <a:ea typeface="Calibri" pitchFamily="34" charset="-122"/>
                <a:cs typeface="Calibri" pitchFamily="34" charset="-120"/>
              </a:rPr>
              <a:t>déclenchés par l'utilisateur</a:t>
            </a:r>
            <a:pPr indent="0" marL="0">
              <a:lnSpc>
                <a:spcPct val="125000"/>
              </a:lnSpc>
              <a:buNone/>
            </a:pPr>
            <a:r>
              <a:rPr lang="en-US" sz="1450" dirty="0">
                <a:solidFill>
                  <a:srgbClr val="1F1F1F"/>
                </a:solidFill>
                <a:latin typeface="Calibri" pitchFamily="34" charset="0"/>
                <a:ea typeface="Calibri" pitchFamily="34" charset="-122"/>
                <a:cs typeface="Calibri" pitchFamily="34" charset="-120"/>
              </a:rPr>
              <a:t> — signal d'intérêt humain réel.</a:t>
            </a:r>
            <a:endParaRPr lang="en-US" sz="1450" dirty="0"/>
          </a:p>
        </p:txBody>
      </p:sp>
      <p:sp>
        <p:nvSpPr>
          <p:cNvPr id="7" name="Text 4"/>
          <p:cNvSpPr/>
          <p:nvPr/>
        </p:nvSpPr>
        <p:spPr>
          <a:xfrm>
            <a:off x="1280160" y="3383280"/>
            <a:ext cx="5852160" cy="914400"/>
          </a:xfrm>
          <a:prstGeom prst="rect">
            <a:avLst/>
          </a:prstGeom>
          <a:noFill/>
          <a:ln/>
        </p:spPr>
        <p:txBody>
          <a:bodyPr wrap="square" lIns="0" tIns="0" rIns="0" bIns="0" rtlCol="0" anchor="ctr"/>
          <a:lstStyle/>
          <a:p>
            <a:pPr indent="0" marL="0">
              <a:lnSpc>
                <a:spcPct val="120000"/>
              </a:lnSpc>
              <a:buNone/>
            </a:pPr>
            <a:r>
              <a:rPr lang="en-US" sz="1250" i="1" dirty="0">
                <a:solidFill>
                  <a:srgbClr val="6B7280"/>
                </a:solidFill>
                <a:latin typeface="Calibri" pitchFamily="34" charset="0"/>
                <a:ea typeface="Calibri" pitchFamily="34" charset="-122"/>
                <a:cs typeface="Calibri" pitchFamily="34" charset="-120"/>
              </a:rPr>
              <a:t>Le robots.txt ne suffit plus : OpenAI et Perplexity ne s'engagent plus à le respecter pour leurs bots déclenchés par l'utilisateur.</a:t>
            </a:r>
            <a:endParaRPr lang="en-US" sz="1250" dirty="0"/>
          </a:p>
        </p:txBody>
      </p:sp>
      <p:sp>
        <p:nvSpPr>
          <p:cNvPr id="8" name="Shape 5"/>
          <p:cNvSpPr/>
          <p:nvPr/>
        </p:nvSpPr>
        <p:spPr>
          <a:xfrm>
            <a:off x="7589520" y="1691640"/>
            <a:ext cx="3931920" cy="1920240"/>
          </a:xfrm>
          <a:prstGeom prst="roundRect">
            <a:avLst>
              <a:gd name="adj" fmla="val 3810"/>
            </a:avLst>
          </a:prstGeom>
          <a:solidFill>
            <a:srgbClr val="FFFFFF"/>
          </a:solidFill>
          <a:ln/>
          <a:effectLst>
            <a:outerShdw sx="100000" sy="100000" kx="0" ky="0" algn="bl" rotWithShape="0" blurRad="101600" dist="38100" dir="5400000">
              <a:srgbClr val="1E2761">
                <a:alpha val="18000"/>
              </a:srgbClr>
            </a:outerShdw>
          </a:effectLst>
        </p:spPr>
      </p:sp>
      <p:sp>
        <p:nvSpPr>
          <p:cNvPr id="9" name="Text 6"/>
          <p:cNvSpPr/>
          <p:nvPr/>
        </p:nvSpPr>
        <p:spPr>
          <a:xfrm>
            <a:off x="7726680" y="1801368"/>
            <a:ext cx="3657600" cy="96012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70 900</a:t>
            </a:r>
            <a:endParaRPr lang="en-US" sz="3000" dirty="0"/>
          </a:p>
        </p:txBody>
      </p:sp>
      <p:sp>
        <p:nvSpPr>
          <p:cNvPr id="10" name="Text 7"/>
          <p:cNvSpPr/>
          <p:nvPr/>
        </p:nvSpPr>
        <p:spPr>
          <a:xfrm>
            <a:off x="7726680" y="2747772"/>
            <a:ext cx="3657600" cy="576072"/>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requêtes Claude par page visitée générée</a:t>
            </a:r>
            <a:endParaRPr lang="en-US" sz="1150" dirty="0"/>
          </a:p>
        </p:txBody>
      </p:sp>
      <p:sp>
        <p:nvSpPr>
          <p:cNvPr id="11" name="Text 8"/>
          <p:cNvSpPr/>
          <p:nvPr/>
        </p:nvSpPr>
        <p:spPr>
          <a:xfrm>
            <a:off x="7726680" y="3355848"/>
            <a:ext cx="365760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Cloudflare, juin 2025</a:t>
            </a:r>
            <a:endParaRPr lang="en-US" sz="850" dirty="0"/>
          </a:p>
        </p:txBody>
      </p:sp>
      <p:sp>
        <p:nvSpPr>
          <p:cNvPr id="12" name="Shape 9"/>
          <p:cNvSpPr/>
          <p:nvPr/>
        </p:nvSpPr>
        <p:spPr>
          <a:xfrm>
            <a:off x="7589520" y="3794760"/>
            <a:ext cx="3931920" cy="1920240"/>
          </a:xfrm>
          <a:prstGeom prst="roundRect">
            <a:avLst>
              <a:gd name="adj" fmla="val 3810"/>
            </a:avLst>
          </a:prstGeom>
          <a:solidFill>
            <a:srgbClr val="FFFFFF"/>
          </a:solidFill>
          <a:ln/>
          <a:effectLst>
            <a:outerShdw sx="100000" sy="100000" kx="0" ky="0" algn="bl" rotWithShape="0" blurRad="101600" dist="38100" dir="5400000">
              <a:srgbClr val="1E2761">
                <a:alpha val="18000"/>
              </a:srgbClr>
            </a:outerShdw>
          </a:effectLst>
        </p:spPr>
      </p:sp>
      <p:sp>
        <p:nvSpPr>
          <p:cNvPr id="13" name="Text 10"/>
          <p:cNvSpPr/>
          <p:nvPr/>
        </p:nvSpPr>
        <p:spPr>
          <a:xfrm>
            <a:off x="7726680" y="3904488"/>
            <a:ext cx="3657600" cy="96012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9,4</a:t>
            </a:r>
            <a:endParaRPr lang="en-US" sz="3000" dirty="0"/>
          </a:p>
        </p:txBody>
      </p:sp>
      <p:sp>
        <p:nvSpPr>
          <p:cNvPr id="14" name="Text 11"/>
          <p:cNvSpPr/>
          <p:nvPr/>
        </p:nvSpPr>
        <p:spPr>
          <a:xfrm>
            <a:off x="7726680" y="4850892"/>
            <a:ext cx="3657600" cy="576072"/>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requêtes Google pour le même résultat — un rapport de 1 à 7 500</a:t>
            </a:r>
            <a:endParaRPr lang="en-US" sz="1150" dirty="0"/>
          </a:p>
        </p:txBody>
      </p:sp>
      <p:sp>
        <p:nvSpPr>
          <p:cNvPr id="15" name="Text 12"/>
          <p:cNvSpPr/>
          <p:nvPr/>
        </p:nvSpPr>
        <p:spPr>
          <a:xfrm>
            <a:off x="7726680" y="5458968"/>
            <a:ext cx="365760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Cloudflare, juin 2025</a:t>
            </a:r>
            <a:endParaRPr lang="en-US" sz="850" dirty="0"/>
          </a:p>
        </p:txBody>
      </p:sp>
      <p:sp>
        <p:nvSpPr>
          <p:cNvPr id="16" name="Text 13"/>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7" name="Text 14"/>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LE FIL ROUGE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 vrai bouleversement : l'accès au métier, pas l'emploi existant</a:t>
            </a:r>
            <a:endParaRPr lang="en-US" sz="3000" dirty="0"/>
          </a:p>
        </p:txBody>
      </p:sp>
      <p:sp>
        <p:nvSpPr>
          <p:cNvPr id="4" name="Shape 2"/>
          <p:cNvSpPr/>
          <p:nvPr/>
        </p:nvSpPr>
        <p:spPr>
          <a:xfrm>
            <a:off x="548640" y="1828800"/>
            <a:ext cx="3611880" cy="2377440"/>
          </a:xfrm>
          <a:prstGeom prst="roundRect">
            <a:avLst>
              <a:gd name="adj" fmla="val 3077"/>
            </a:avLst>
          </a:prstGeom>
          <a:solidFill>
            <a:srgbClr val="FFFFFF"/>
          </a:solidFill>
          <a:ln/>
          <a:effectLst>
            <a:outerShdw sx="100000" sy="100000" kx="0" ky="0" algn="bl" rotWithShape="0" blurRad="101600" dist="38100" dir="5400000">
              <a:srgbClr val="1E2761">
                <a:alpha val="18000"/>
              </a:srgbClr>
            </a:outerShdw>
          </a:effectLst>
        </p:spPr>
      </p:sp>
      <p:sp>
        <p:nvSpPr>
          <p:cNvPr id="5" name="Text 3"/>
          <p:cNvSpPr/>
          <p:nvPr/>
        </p:nvSpPr>
        <p:spPr>
          <a:xfrm>
            <a:off x="685800" y="1938528"/>
            <a:ext cx="3337560" cy="118872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-20 %</a:t>
            </a:r>
            <a:endParaRPr lang="en-US" sz="3000" dirty="0"/>
          </a:p>
        </p:txBody>
      </p:sp>
      <p:sp>
        <p:nvSpPr>
          <p:cNvPr id="6" name="Text 4"/>
          <p:cNvSpPr/>
          <p:nvPr/>
        </p:nvSpPr>
        <p:spPr>
          <a:xfrm>
            <a:off x="685800" y="3136392"/>
            <a:ext cx="3337560" cy="713232"/>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emploi des développeurs juniors (22-25 ans) depuis fin 2022</a:t>
            </a:r>
            <a:endParaRPr lang="en-US" sz="1150" dirty="0"/>
          </a:p>
        </p:txBody>
      </p:sp>
      <p:sp>
        <p:nvSpPr>
          <p:cNvPr id="7" name="Text 5"/>
          <p:cNvSpPr/>
          <p:nvPr/>
        </p:nvSpPr>
        <p:spPr>
          <a:xfrm>
            <a:off x="685800" y="3950208"/>
            <a:ext cx="333756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Stanford Digital Economy Lab, 2026</a:t>
            </a:r>
            <a:endParaRPr lang="en-US" sz="850" dirty="0"/>
          </a:p>
        </p:txBody>
      </p:sp>
      <p:sp>
        <p:nvSpPr>
          <p:cNvPr id="8" name="Shape 6"/>
          <p:cNvSpPr/>
          <p:nvPr/>
        </p:nvSpPr>
        <p:spPr>
          <a:xfrm>
            <a:off x="4389120" y="1828800"/>
            <a:ext cx="3611880" cy="2377440"/>
          </a:xfrm>
          <a:prstGeom prst="roundRect">
            <a:avLst>
              <a:gd name="adj" fmla="val 3077"/>
            </a:avLst>
          </a:prstGeom>
          <a:solidFill>
            <a:srgbClr val="FFFFFF"/>
          </a:solidFill>
          <a:ln/>
          <a:effectLst>
            <a:outerShdw sx="100000" sy="100000" kx="0" ky="0" algn="bl" rotWithShape="0" blurRad="101600" dist="38100" dir="5400000">
              <a:srgbClr val="1E2761">
                <a:alpha val="18000"/>
              </a:srgbClr>
            </a:outerShdw>
          </a:effectLst>
        </p:spPr>
      </p:sp>
      <p:sp>
        <p:nvSpPr>
          <p:cNvPr id="9" name="Text 7"/>
          <p:cNvSpPr/>
          <p:nvPr/>
        </p:nvSpPr>
        <p:spPr>
          <a:xfrm>
            <a:off x="4526280" y="1938528"/>
            <a:ext cx="3337560" cy="118872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-18 %</a:t>
            </a:r>
            <a:endParaRPr lang="en-US" sz="3000" dirty="0"/>
          </a:p>
        </p:txBody>
      </p:sp>
      <p:sp>
        <p:nvSpPr>
          <p:cNvPr id="10" name="Text 8"/>
          <p:cNvSpPr/>
          <p:nvPr/>
        </p:nvSpPr>
        <p:spPr>
          <a:xfrm>
            <a:off x="4526280" y="3136392"/>
            <a:ext cx="3337560" cy="713232"/>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recrutements de cadres informatiques en France en 2024</a:t>
            </a:r>
            <a:endParaRPr lang="en-US" sz="1150" dirty="0"/>
          </a:p>
        </p:txBody>
      </p:sp>
      <p:sp>
        <p:nvSpPr>
          <p:cNvPr id="11" name="Text 9"/>
          <p:cNvSpPr/>
          <p:nvPr/>
        </p:nvSpPr>
        <p:spPr>
          <a:xfrm>
            <a:off x="4526280" y="3950208"/>
            <a:ext cx="333756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APEC</a:t>
            </a:r>
            <a:endParaRPr lang="en-US" sz="850" dirty="0"/>
          </a:p>
        </p:txBody>
      </p:sp>
      <p:sp>
        <p:nvSpPr>
          <p:cNvPr id="12" name="Shape 10"/>
          <p:cNvSpPr/>
          <p:nvPr/>
        </p:nvSpPr>
        <p:spPr>
          <a:xfrm>
            <a:off x="8229600" y="1828800"/>
            <a:ext cx="3611880" cy="2377440"/>
          </a:xfrm>
          <a:prstGeom prst="roundRect">
            <a:avLst>
              <a:gd name="adj" fmla="val 3077"/>
            </a:avLst>
          </a:prstGeom>
          <a:solidFill>
            <a:srgbClr val="FFFFFF"/>
          </a:solidFill>
          <a:ln/>
          <a:effectLst>
            <a:outerShdw sx="100000" sy="100000" kx="0" ky="0" algn="bl" rotWithShape="0" blurRad="101600" dist="38100" dir="5400000">
              <a:srgbClr val="1E2761">
                <a:alpha val="18000"/>
              </a:srgbClr>
            </a:outerShdw>
          </a:effectLst>
        </p:spPr>
      </p:sp>
      <p:sp>
        <p:nvSpPr>
          <p:cNvPr id="13" name="Text 11"/>
          <p:cNvSpPr/>
          <p:nvPr/>
        </p:nvSpPr>
        <p:spPr>
          <a:xfrm>
            <a:off x="8366760" y="1938528"/>
            <a:ext cx="3337560" cy="118872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-3 %</a:t>
            </a:r>
            <a:endParaRPr lang="en-US" sz="3000" dirty="0"/>
          </a:p>
        </p:txBody>
      </p:sp>
      <p:sp>
        <p:nvSpPr>
          <p:cNvPr id="14" name="Text 12"/>
          <p:cNvSpPr/>
          <p:nvPr/>
        </p:nvSpPr>
        <p:spPr>
          <a:xfrm>
            <a:off x="8366760" y="3136392"/>
            <a:ext cx="3337560" cy="713232"/>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emploi salarié IT France 2023-2025, porté quasi exclusivement par les moins de 30 ans</a:t>
            </a:r>
            <a:endParaRPr lang="en-US" sz="1150" dirty="0"/>
          </a:p>
        </p:txBody>
      </p:sp>
      <p:sp>
        <p:nvSpPr>
          <p:cNvPr id="15" name="Text 13"/>
          <p:cNvSpPr/>
          <p:nvPr/>
        </p:nvSpPr>
        <p:spPr>
          <a:xfrm>
            <a:off x="8366760" y="3950208"/>
            <a:ext cx="333756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INSEE, mars 2026</a:t>
            </a:r>
            <a:endParaRPr lang="en-US" sz="850" dirty="0"/>
          </a:p>
        </p:txBody>
      </p:sp>
      <p:sp>
        <p:nvSpPr>
          <p:cNvPr id="16" name="Shape 14"/>
          <p:cNvSpPr/>
          <p:nvPr/>
        </p:nvSpPr>
        <p:spPr>
          <a:xfrm>
            <a:off x="548640" y="4526280"/>
            <a:ext cx="502920" cy="502920"/>
          </a:xfrm>
          <a:prstGeom prst="ellipse">
            <a:avLst/>
          </a:prstGeom>
          <a:solidFill>
            <a:srgbClr val="E8542B"/>
          </a:solidFill>
          <a:ln/>
        </p:spPr>
      </p:sp>
      <p:pic>
        <p:nvPicPr>
          <p:cNvPr id="17" name="Image 0" descr="/home/claude/veille-deck/icons/door.png">    </p:cNvPr>
          <p:cNvPicPr>
            <a:picLocks noChangeAspect="1"/>
          </p:cNvPicPr>
          <p:nvPr/>
        </p:nvPicPr>
        <p:blipFill>
          <a:blip r:embed="rId1"/>
          <a:stretch>
            <a:fillRect/>
          </a:stretch>
        </p:blipFill>
        <p:spPr>
          <a:xfrm>
            <a:off x="603961" y="4581601"/>
            <a:ext cx="392278" cy="392278"/>
          </a:xfrm>
          <a:prstGeom prst="rect">
            <a:avLst/>
          </a:prstGeom>
        </p:spPr>
      </p:pic>
      <p:sp>
        <p:nvSpPr>
          <p:cNvPr id="18" name="Text 15"/>
          <p:cNvSpPr/>
          <p:nvPr/>
        </p:nvSpPr>
        <p:spPr>
          <a:xfrm>
            <a:off x="1234440" y="4480560"/>
            <a:ext cx="10332720" cy="1005840"/>
          </a:xfrm>
          <a:prstGeom prst="rect">
            <a:avLst/>
          </a:prstGeom>
          <a:noFill/>
          <a:ln/>
        </p:spPr>
        <p:txBody>
          <a:bodyPr wrap="square" lIns="0" tIns="0" rIns="0" bIns="0" rtlCol="0" anchor="ctr"/>
          <a:lstStyle/>
          <a:p>
            <a:pPr indent="0" marL="0">
              <a:lnSpc>
                <a:spcPct val="120000"/>
              </a:lnSpc>
              <a:buNone/>
            </a:pPr>
            <a:r>
              <a:rPr lang="en-US" sz="1400" dirty="0">
                <a:solidFill>
                  <a:srgbClr val="1F1F1F"/>
                </a:solidFill>
                <a:latin typeface="Calibri" pitchFamily="34" charset="0"/>
                <a:ea typeface="Calibri" pitchFamily="34" charset="-122"/>
                <a:cs typeface="Calibri" pitchFamily="34" charset="-120"/>
              </a:rPr>
              <a:t>Le mécanisme n'est pas le licenciement, c'est le ralentissement des embauches sur les postes d'entrée : moins de recrutements juniors, seniors stables ou en hausse.</a:t>
            </a:r>
            <a:endParaRPr lang="en-US" sz="1400" dirty="0"/>
          </a:p>
        </p:txBody>
      </p:sp>
      <p:sp>
        <p:nvSpPr>
          <p:cNvPr id="19" name="Text 1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20" name="Text 17"/>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ZOOM MÉTIER 1/3</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Développeur web : du codeur exécutant au relecteur critique</a:t>
            </a:r>
            <a:endParaRPr lang="en-US" sz="3000" dirty="0"/>
          </a:p>
        </p:txBody>
      </p:sp>
      <p:sp>
        <p:nvSpPr>
          <p:cNvPr id="4" name="Shape 2"/>
          <p:cNvSpPr/>
          <p:nvPr/>
        </p:nvSpPr>
        <p:spPr>
          <a:xfrm>
            <a:off x="548640" y="1737360"/>
            <a:ext cx="502920" cy="502920"/>
          </a:xfrm>
          <a:prstGeom prst="ellipse">
            <a:avLst/>
          </a:prstGeom>
          <a:solidFill>
            <a:srgbClr val="1E2761"/>
          </a:solidFill>
          <a:ln/>
        </p:spPr>
      </p:sp>
      <p:pic>
        <p:nvPicPr>
          <p:cNvPr id="5" name="Image 0" descr="/home/claude/veille-deck/icons/code.png">    </p:cNvPr>
          <p:cNvPicPr>
            <a:picLocks noChangeAspect="1"/>
          </p:cNvPicPr>
          <p:nvPr/>
        </p:nvPicPr>
        <p:blipFill>
          <a:blip r:embed="rId1"/>
          <a:stretch>
            <a:fillRect/>
          </a:stretch>
        </p:blipFill>
        <p:spPr>
          <a:xfrm>
            <a:off x="603961" y="1792681"/>
            <a:ext cx="392278" cy="392278"/>
          </a:xfrm>
          <a:prstGeom prst="rect">
            <a:avLst/>
          </a:prstGeom>
        </p:spPr>
      </p:pic>
      <p:sp>
        <p:nvSpPr>
          <p:cNvPr id="6" name="Shape 3"/>
          <p:cNvSpPr/>
          <p:nvPr/>
        </p:nvSpPr>
        <p:spPr>
          <a:xfrm>
            <a:off x="548640" y="2423160"/>
            <a:ext cx="5349240" cy="3200400"/>
          </a:xfrm>
          <a:prstGeom prst="roundRect">
            <a:avLst>
              <a:gd name="adj" fmla="val 2286"/>
            </a:avLst>
          </a:prstGeom>
          <a:solidFill>
            <a:srgbClr val="FFFFFF"/>
          </a:solidFill>
          <a:ln/>
          <a:effectLst>
            <a:outerShdw sx="100000" sy="100000" kx="0" ky="0" algn="bl" rotWithShape="0" blurRad="101600" dist="38100" dir="5400000">
              <a:srgbClr val="1E2761">
                <a:alpha val="18000"/>
              </a:srgbClr>
            </a:outerShdw>
          </a:effectLst>
        </p:spPr>
      </p:sp>
      <p:sp>
        <p:nvSpPr>
          <p:cNvPr id="7" name="Text 4"/>
          <p:cNvSpPr/>
          <p:nvPr/>
        </p:nvSpPr>
        <p:spPr>
          <a:xfrm>
            <a:off x="822960" y="2606040"/>
            <a:ext cx="484632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Ce que l'IA automatise</a:t>
            </a:r>
            <a:endParaRPr lang="en-US" sz="1500" dirty="0"/>
          </a:p>
        </p:txBody>
      </p:sp>
      <p:sp>
        <p:nvSpPr>
          <p:cNvPr id="8" name="Text 5"/>
          <p:cNvSpPr/>
          <p:nvPr/>
        </p:nvSpPr>
        <p:spPr>
          <a:xfrm>
            <a:off x="822960" y="3017520"/>
            <a:ext cx="4846320" cy="10058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1F1F"/>
                </a:solidFill>
                <a:latin typeface="Calibri" pitchFamily="34" charset="0"/>
                <a:ea typeface="Calibri" pitchFamily="34" charset="-122"/>
                <a:cs typeface="Calibri" pitchFamily="34" charset="-120"/>
              </a:rPr>
              <a:t>Code boilerplate
</a:t>
            </a:r>
            <a:endParaRPr lang="en-US" sz="1300" dirty="0"/>
          </a:p>
          <a:p>
            <a:pPr marL="342900" indent="-342900">
              <a:spcAft>
                <a:spcPts val="600"/>
              </a:spcAft>
              <a:buSzPct val="100000"/>
              <a:buChar char="•"/>
            </a:pPr>
            <a:r>
              <a:rPr lang="en-US" sz="1300" dirty="0">
                <a:solidFill>
                  <a:srgbClr val="1F1F1F"/>
                </a:solidFill>
                <a:latin typeface="Calibri" pitchFamily="34" charset="0"/>
                <a:ea typeface="Calibri" pitchFamily="34" charset="-122"/>
                <a:cs typeface="Calibri" pitchFamily="34" charset="-120"/>
              </a:rPr>
              <a:t>Debug simple
</a:t>
            </a:r>
            <a:endParaRPr lang="en-US" sz="1300" dirty="0"/>
          </a:p>
          <a:p>
            <a:pPr marL="342900" indent="-342900">
              <a:spcAft>
                <a:spcPts val="600"/>
              </a:spcAft>
              <a:buSzPct val="100000"/>
              <a:buChar char="•"/>
            </a:pPr>
            <a:r>
              <a:rPr lang="en-US" sz="1300" dirty="0">
                <a:solidFill>
                  <a:srgbClr val="1F1F1F"/>
                </a:solidFill>
                <a:latin typeface="Calibri" pitchFamily="34" charset="0"/>
                <a:ea typeface="Calibri" pitchFamily="34" charset="-122"/>
                <a:cs typeface="Calibri" pitchFamily="34" charset="-120"/>
              </a:rPr>
              <a:t>Documentation</a:t>
            </a:r>
            <a:endParaRPr lang="en-US" sz="1300" dirty="0"/>
          </a:p>
        </p:txBody>
      </p:sp>
      <p:sp>
        <p:nvSpPr>
          <p:cNvPr id="9" name="Text 6"/>
          <p:cNvSpPr/>
          <p:nvPr/>
        </p:nvSpPr>
        <p:spPr>
          <a:xfrm>
            <a:off x="822960" y="4114800"/>
            <a:ext cx="4846320" cy="365760"/>
          </a:xfrm>
          <a:prstGeom prst="rect">
            <a:avLst/>
          </a:prstGeom>
          <a:noFill/>
          <a:ln/>
        </p:spPr>
        <p:txBody>
          <a:bodyPr wrap="square" lIns="0" tIns="0" rIns="0" bIns="0" rtlCol="0" anchor="ctr"/>
          <a:lstStyle/>
          <a:p>
            <a:pPr indent="0" marL="0">
              <a:buNone/>
            </a:pPr>
            <a:r>
              <a:rPr lang="en-US" sz="1200" b="1" dirty="0">
                <a:solidFill>
                  <a:srgbClr val="E8542B"/>
                </a:solidFill>
                <a:latin typeface="Calibri" pitchFamily="34" charset="0"/>
                <a:ea typeface="Calibri" pitchFamily="34" charset="-122"/>
                <a:cs typeface="Calibri" pitchFamily="34" charset="-120"/>
              </a:rPr>
              <a:t>Copilot génère 46 % du code de ses utilisateurs</a:t>
            </a:r>
            <a:endParaRPr lang="en-US" sz="1200" dirty="0"/>
          </a:p>
        </p:txBody>
      </p:sp>
      <p:sp>
        <p:nvSpPr>
          <p:cNvPr id="10" name="Text 7"/>
          <p:cNvSpPr/>
          <p:nvPr/>
        </p:nvSpPr>
        <p:spPr>
          <a:xfrm>
            <a:off x="822960" y="4480560"/>
            <a:ext cx="4846320" cy="548640"/>
          </a:xfrm>
          <a:prstGeom prst="rect">
            <a:avLst/>
          </a:prstGeom>
          <a:noFill/>
          <a:ln/>
        </p:spPr>
        <p:txBody>
          <a:bodyPr wrap="square" lIns="0" tIns="0" rIns="0" bIns="0" rtlCol="0" anchor="ctr"/>
          <a:lstStyle/>
          <a:p>
            <a:pPr indent="0" marL="0">
              <a:lnSpc>
                <a:spcPct val="120000"/>
              </a:lnSpc>
              <a:buNone/>
            </a:pPr>
            <a:r>
              <a:rPr lang="en-US" sz="1150" i="1" dirty="0">
                <a:solidFill>
                  <a:srgbClr val="6B7280"/>
                </a:solidFill>
                <a:latin typeface="Calibri" pitchFamily="34" charset="0"/>
                <a:ea typeface="Calibri" pitchFamily="34" charset="-122"/>
                <a:cs typeface="Calibri" pitchFamily="34" charset="-120"/>
              </a:rPr>
              <a:t>Questions sur Stack Overflow en baisse de 35 % depuis 2023</a:t>
            </a:r>
            <a:endParaRPr lang="en-US" sz="1150" dirty="0"/>
          </a:p>
        </p:txBody>
      </p:sp>
      <p:sp>
        <p:nvSpPr>
          <p:cNvPr id="11" name="Shape 8"/>
          <p:cNvSpPr/>
          <p:nvPr/>
        </p:nvSpPr>
        <p:spPr>
          <a:xfrm>
            <a:off x="6172200" y="2423160"/>
            <a:ext cx="5349240" cy="3200400"/>
          </a:xfrm>
          <a:prstGeom prst="roundRect">
            <a:avLst>
              <a:gd name="adj" fmla="val 2286"/>
            </a:avLst>
          </a:prstGeom>
          <a:solidFill>
            <a:srgbClr val="1E2761"/>
          </a:solidFill>
          <a:ln/>
          <a:effectLst>
            <a:outerShdw sx="100000" sy="100000" kx="0" ky="0" algn="bl" rotWithShape="0" blurRad="101600" dist="38100" dir="5400000">
              <a:srgbClr val="1E2761">
                <a:alpha val="18000"/>
              </a:srgbClr>
            </a:outerShdw>
          </a:effectLst>
        </p:spPr>
      </p:sp>
      <p:sp>
        <p:nvSpPr>
          <p:cNvPr id="12" name="Text 9"/>
          <p:cNvSpPr/>
          <p:nvPr/>
        </p:nvSpPr>
        <p:spPr>
          <a:xfrm>
            <a:off x="6446520" y="2606040"/>
            <a:ext cx="48463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Ce qui reste humain</a:t>
            </a:r>
            <a:endParaRPr lang="en-US" sz="1500" dirty="0"/>
          </a:p>
        </p:txBody>
      </p:sp>
      <p:sp>
        <p:nvSpPr>
          <p:cNvPr id="13" name="Text 10"/>
          <p:cNvSpPr/>
          <p:nvPr/>
        </p:nvSpPr>
        <p:spPr>
          <a:xfrm>
            <a:off x="6446520" y="3017520"/>
            <a:ext cx="484632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Architecture logicielle
</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Sécurité
</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Debug complexe
</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Relationnel &amp; business</a:t>
            </a:r>
            <a:endParaRPr lang="en-US" sz="1300" dirty="0"/>
          </a:p>
        </p:txBody>
      </p:sp>
      <p:sp>
        <p:nvSpPr>
          <p:cNvPr id="14" name="Text 11"/>
          <p:cNvSpPr/>
          <p:nvPr/>
        </p:nvSpPr>
        <p:spPr>
          <a:xfrm>
            <a:off x="6446520" y="4572000"/>
            <a:ext cx="4846320" cy="822960"/>
          </a:xfrm>
          <a:prstGeom prst="rect">
            <a:avLst/>
          </a:prstGeom>
          <a:noFill/>
          <a:ln/>
        </p:spPr>
        <p:txBody>
          <a:bodyPr wrap="square" lIns="0" tIns="0" rIns="0" bIns="0" rtlCol="0" anchor="ctr"/>
          <a:lstStyle/>
          <a:p>
            <a:pPr indent="0" marL="0">
              <a:lnSpc>
                <a:spcPct val="120000"/>
              </a:lnSpc>
              <a:buNone/>
            </a:pPr>
            <a:r>
              <a:rPr lang="en-US" sz="1200" i="1" dirty="0">
                <a:solidFill>
                  <a:srgbClr val="CADCFC"/>
                </a:solidFill>
                <a:latin typeface="Calibri" pitchFamily="34" charset="0"/>
                <a:ea typeface="Calibri" pitchFamily="34" charset="-122"/>
                <a:cs typeface="Calibri" pitchFamily="34" charset="-120"/>
              </a:rPr>
              <a:t>Juniors menacés sur les tâches de base — seniors et architectes plus demandés que jamais.</a:t>
            </a:r>
            <a:endParaRPr lang="en-US" sz="1200" dirty="0"/>
          </a:p>
        </p:txBody>
      </p:sp>
      <p:sp>
        <p:nvSpPr>
          <p:cNvPr id="15" name="Text 1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6" name="Text 1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FOCUS DÉVELOPPEUR — GRILLE D'ANALYSE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Les 8 compétences du REAC DWWM face à l'IA</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502920"/>
                <a:gridCol w="2697480"/>
                <a:gridCol w="1234440"/>
                <a:gridCol w="3154680"/>
                <a:gridCol w="3474720"/>
              </a:tblGrid>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Compétence professionnelle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Impact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Ce qui s'automatise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Ce qui reste humain</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Installer/configurer l'environnement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Moyen</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Génération de configs Docker / CI</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Choix d'architecture technique du projet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Maquetter les interfaces utilisateur</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Moyen-fort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Maquettes générées (outils GenUI)</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Traduction fidèle des besoins utilisateurs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Réaliser des interfaces statiques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Fort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Génération directe HTML/CSS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Accessibilité RGAA réellement vérifiée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Développer la partie dynamique (JS)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Moyen-fort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Boilerplate JS, événements simples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Logique métier, debug asynchrone complexe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Mettre en place la BDD relationnelle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Moyen</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Génération du schéma physique</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Modélisation métier, conformité RGPD</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Accès aux données SQL et NoSQL</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Fort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Requêtes CRUD standardisées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Sécurité, gestion des conflits d'accès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Composants métier côté serveur</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Faible-moyen</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2C8C56"/>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Squelette de code, patterns courants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Architecture, sécurité, style défensif</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57200">
                <a:tc>
                  <a:txBody>
                    <a:bodyPr/>
                    <a:lstStyle/>
                    <a:p>
                      <a:pPr algn="ctr" indent="0" marL="0">
                        <a:buNone/>
                      </a:pPr>
                      <a:r>
                        <a:rPr lang="en-US" sz="1050" b="1" dirty="0">
                          <a:solidFill>
                            <a:srgbClr val="1F1F1F"/>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Documenter le déploiement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Fort</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Procédures, scripts CI/CD</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Connaissance fine des dépendances réelles</a:t>
                      </a:r>
                      <a:endParaRPr lang="en-US" sz="1050" dirty="0">
                        <a:latin typeface="Calibri" charset="0"/>
                        <a:ea typeface="Calibri" charset="0"/>
                        <a:cs typeface="Calibri" charset="0"/>
                      </a:endParaRPr>
                    </a:p>
                  </a:txBody>
                  <a:tcPr marL="76200" marR="762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bl>
          </a:graphicData>
        </a:graphic>
      </p:graphicFrame>
      <p:sp>
        <p:nvSpPr>
          <p:cNvPr id="5" name="Shape 2"/>
          <p:cNvSpPr/>
          <p:nvPr/>
        </p:nvSpPr>
        <p:spPr>
          <a:xfrm>
            <a:off x="548640" y="5715000"/>
            <a:ext cx="201168" cy="201168"/>
          </a:xfrm>
          <a:prstGeom prst="roundRect">
            <a:avLst>
              <a:gd name="adj" fmla="val 18182"/>
            </a:avLst>
          </a:prstGeom>
          <a:solidFill>
            <a:srgbClr val="2C8C56"/>
          </a:solidFill>
          <a:ln/>
        </p:spPr>
      </p:sp>
      <p:sp>
        <p:nvSpPr>
          <p:cNvPr id="6" name="Text 3"/>
          <p:cNvSpPr/>
          <p:nvPr/>
        </p:nvSpPr>
        <p:spPr>
          <a:xfrm>
            <a:off x="822960" y="567842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Faible-moyen</a:t>
            </a:r>
            <a:endParaRPr lang="en-US" sz="1050" dirty="0"/>
          </a:p>
        </p:txBody>
      </p:sp>
      <p:sp>
        <p:nvSpPr>
          <p:cNvPr id="7" name="Shape 4"/>
          <p:cNvSpPr/>
          <p:nvPr/>
        </p:nvSpPr>
        <p:spPr>
          <a:xfrm>
            <a:off x="2286000" y="5715000"/>
            <a:ext cx="201168" cy="201168"/>
          </a:xfrm>
          <a:prstGeom prst="roundRect">
            <a:avLst>
              <a:gd name="adj" fmla="val 18182"/>
            </a:avLst>
          </a:prstGeom>
          <a:solidFill>
            <a:srgbClr val="E0A639"/>
          </a:solidFill>
          <a:ln/>
        </p:spPr>
      </p:sp>
      <p:sp>
        <p:nvSpPr>
          <p:cNvPr id="8" name="Text 5"/>
          <p:cNvSpPr/>
          <p:nvPr/>
        </p:nvSpPr>
        <p:spPr>
          <a:xfrm>
            <a:off x="2560320" y="567842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Moyen</a:t>
            </a:r>
            <a:endParaRPr lang="en-US" sz="1050" dirty="0"/>
          </a:p>
        </p:txBody>
      </p:sp>
      <p:sp>
        <p:nvSpPr>
          <p:cNvPr id="9" name="Shape 6"/>
          <p:cNvSpPr/>
          <p:nvPr/>
        </p:nvSpPr>
        <p:spPr>
          <a:xfrm>
            <a:off x="4023360" y="5715000"/>
            <a:ext cx="201168" cy="201168"/>
          </a:xfrm>
          <a:prstGeom prst="roundRect">
            <a:avLst>
              <a:gd name="adj" fmla="val 18182"/>
            </a:avLst>
          </a:prstGeom>
          <a:solidFill>
            <a:srgbClr val="F2994A"/>
          </a:solidFill>
          <a:ln/>
        </p:spPr>
      </p:sp>
      <p:sp>
        <p:nvSpPr>
          <p:cNvPr id="10" name="Text 7"/>
          <p:cNvSpPr/>
          <p:nvPr/>
        </p:nvSpPr>
        <p:spPr>
          <a:xfrm>
            <a:off x="4297680" y="567842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Moyen-fort</a:t>
            </a:r>
            <a:endParaRPr lang="en-US" sz="1050" dirty="0"/>
          </a:p>
        </p:txBody>
      </p:sp>
      <p:sp>
        <p:nvSpPr>
          <p:cNvPr id="11" name="Shape 8"/>
          <p:cNvSpPr/>
          <p:nvPr/>
        </p:nvSpPr>
        <p:spPr>
          <a:xfrm>
            <a:off x="5760720" y="5715000"/>
            <a:ext cx="201168" cy="201168"/>
          </a:xfrm>
          <a:prstGeom prst="roundRect">
            <a:avLst>
              <a:gd name="adj" fmla="val 18182"/>
            </a:avLst>
          </a:prstGeom>
          <a:solidFill>
            <a:srgbClr val="E8542B"/>
          </a:solidFill>
          <a:ln/>
        </p:spPr>
      </p:sp>
      <p:sp>
        <p:nvSpPr>
          <p:cNvPr id="12" name="Text 9"/>
          <p:cNvSpPr/>
          <p:nvPr/>
        </p:nvSpPr>
        <p:spPr>
          <a:xfrm>
            <a:off x="6035040" y="567842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Fort</a:t>
            </a:r>
            <a:endParaRPr lang="en-US" sz="1050" dirty="0"/>
          </a:p>
        </p:txBody>
      </p:sp>
      <p:sp>
        <p:nvSpPr>
          <p:cNvPr id="13" name="Text 10"/>
          <p:cNvSpPr/>
          <p:nvPr/>
        </p:nvSpPr>
        <p:spPr>
          <a:xfrm>
            <a:off x="548640" y="6080760"/>
            <a:ext cx="11064240" cy="36576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Lecture : plus une compétence est procédurale et normée, plus elle est absorbée par l'IA ; plus elle exige un jugement contextuel, plus elle résiste.</a:t>
            </a:r>
            <a:endParaRPr lang="en-US" sz="950" dirty="0"/>
          </a:p>
        </p:txBody>
      </p:sp>
      <p:sp>
        <p:nvSpPr>
          <p:cNvPr id="14" name="Text 11"/>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5" name="Text 12"/>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FOCUS CONCEPTEUR DÉVELOPPEUR — GRILLE D'ANALYSE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Les 11 compétences du REAC CDA face à l'IA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
                <a:gridCol w="2651760"/>
                <a:gridCol w="1234440"/>
                <a:gridCol w="3200400"/>
                <a:gridCol w="3520440"/>
              </a:tblGrid>
              <a:tr h="402336">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Compétence professionnelle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Impact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Ce qui s'automatise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Ce qui reste humain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Installer/configurer l'environnement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Génération de configs et scripts d'install</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Choix d'architecture technique du projet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Développer des interfaces utilisateur</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Fort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Génération de composants UI</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Ergonomie réelle, expérience utilisateur</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Développer des composants métier</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Faible-moyen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2C8C56"/>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Squelette de code, patterns courants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Logique métier, architecture, sécurité</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Contribuer à la gestion d'un projet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Faible-moyen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2C8C56"/>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Reporting et suivi automatisés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Coordination d'équipe, arbitrages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Analyser les besoins et maquetter</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Maquettes générées à partir d'un brief</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Recueil du besoin réel auprès du client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Définir l'architecture logicielle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Faible-moyen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2C8C56"/>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Suggestions de patrons d'architecture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Choix structurants, dette technique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Mettre en place une BDD relationnelle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Moyen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Génération du schéma physique</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Modélisation métier, conformité RGPD</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Accès aux données SQL et NoSQL</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Fort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Requêtes CRUD standardisées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Sécurité, gestion des conflits d'accès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Plans de tests d'une application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Fort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Génération de cas de tests et scripts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Priorisation, tests exploratoires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Documenter le déploiement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Fort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Procédures, scripts CI/CD</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Connaissance fine des dépendances réelles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02336">
                <a:tc>
                  <a:txBody>
                    <a:bodyPr/>
                    <a:lstStyle/>
                    <a:p>
                      <a:pPr algn="ctr" indent="0" marL="0">
                        <a:buNone/>
                      </a:pPr>
                      <a:r>
                        <a:rPr lang="en-US" sz="950" b="1" dirty="0">
                          <a:solidFill>
                            <a:srgbClr val="1F1F1F"/>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Mise en production DevOps</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Moyen-fort</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Configuration de pipelines CI/CD</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Gestion d'incidents, arbitrage en production</a:t>
                      </a:r>
                      <a:endParaRPr lang="en-US" sz="95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bl>
          </a:graphicData>
        </a:graphic>
      </p:graphicFrame>
      <p:sp>
        <p:nvSpPr>
          <p:cNvPr id="5" name="Shape 2"/>
          <p:cNvSpPr/>
          <p:nvPr/>
        </p:nvSpPr>
        <p:spPr>
          <a:xfrm>
            <a:off x="548640" y="6263640"/>
            <a:ext cx="182880" cy="182880"/>
          </a:xfrm>
          <a:prstGeom prst="roundRect">
            <a:avLst>
              <a:gd name="adj" fmla="val 20000"/>
            </a:avLst>
          </a:prstGeom>
          <a:solidFill>
            <a:srgbClr val="2C8C56"/>
          </a:solidFill>
          <a:ln/>
        </p:spPr>
      </p:sp>
      <p:sp>
        <p:nvSpPr>
          <p:cNvPr id="6" name="Text 3"/>
          <p:cNvSpPr/>
          <p:nvPr/>
        </p:nvSpPr>
        <p:spPr>
          <a:xfrm>
            <a:off x="804672" y="6227064"/>
            <a:ext cx="1371600" cy="2560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Faible-moyen</a:t>
            </a:r>
            <a:endParaRPr lang="en-US" sz="1000" dirty="0"/>
          </a:p>
        </p:txBody>
      </p:sp>
      <p:sp>
        <p:nvSpPr>
          <p:cNvPr id="7" name="Shape 4"/>
          <p:cNvSpPr/>
          <p:nvPr/>
        </p:nvSpPr>
        <p:spPr>
          <a:xfrm>
            <a:off x="2240280" y="6263640"/>
            <a:ext cx="182880" cy="182880"/>
          </a:xfrm>
          <a:prstGeom prst="roundRect">
            <a:avLst>
              <a:gd name="adj" fmla="val 20000"/>
            </a:avLst>
          </a:prstGeom>
          <a:solidFill>
            <a:srgbClr val="E0A639"/>
          </a:solidFill>
          <a:ln/>
        </p:spPr>
      </p:sp>
      <p:sp>
        <p:nvSpPr>
          <p:cNvPr id="8" name="Text 5"/>
          <p:cNvSpPr/>
          <p:nvPr/>
        </p:nvSpPr>
        <p:spPr>
          <a:xfrm>
            <a:off x="2496312" y="6227064"/>
            <a:ext cx="1371600" cy="2560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Moyen</a:t>
            </a:r>
            <a:endParaRPr lang="en-US" sz="1000" dirty="0"/>
          </a:p>
        </p:txBody>
      </p:sp>
      <p:sp>
        <p:nvSpPr>
          <p:cNvPr id="9" name="Shape 6"/>
          <p:cNvSpPr/>
          <p:nvPr/>
        </p:nvSpPr>
        <p:spPr>
          <a:xfrm>
            <a:off x="3931920" y="6263640"/>
            <a:ext cx="182880" cy="182880"/>
          </a:xfrm>
          <a:prstGeom prst="roundRect">
            <a:avLst>
              <a:gd name="adj" fmla="val 20000"/>
            </a:avLst>
          </a:prstGeom>
          <a:solidFill>
            <a:srgbClr val="F2994A"/>
          </a:solidFill>
          <a:ln/>
        </p:spPr>
      </p:sp>
      <p:sp>
        <p:nvSpPr>
          <p:cNvPr id="10" name="Text 7"/>
          <p:cNvSpPr/>
          <p:nvPr/>
        </p:nvSpPr>
        <p:spPr>
          <a:xfrm>
            <a:off x="4187952" y="6227064"/>
            <a:ext cx="1371600" cy="2560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Moyen-fort</a:t>
            </a:r>
            <a:endParaRPr lang="en-US" sz="1000" dirty="0"/>
          </a:p>
        </p:txBody>
      </p:sp>
      <p:sp>
        <p:nvSpPr>
          <p:cNvPr id="11" name="Shape 8"/>
          <p:cNvSpPr/>
          <p:nvPr/>
        </p:nvSpPr>
        <p:spPr>
          <a:xfrm>
            <a:off x="5623560" y="6263640"/>
            <a:ext cx="182880" cy="182880"/>
          </a:xfrm>
          <a:prstGeom prst="roundRect">
            <a:avLst>
              <a:gd name="adj" fmla="val 20000"/>
            </a:avLst>
          </a:prstGeom>
          <a:solidFill>
            <a:srgbClr val="E8542B"/>
          </a:solidFill>
          <a:ln/>
        </p:spPr>
      </p:sp>
      <p:sp>
        <p:nvSpPr>
          <p:cNvPr id="12" name="Text 9"/>
          <p:cNvSpPr/>
          <p:nvPr/>
        </p:nvSpPr>
        <p:spPr>
          <a:xfrm>
            <a:off x="5879592" y="6227064"/>
            <a:ext cx="1371600" cy="2560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Fort</a:t>
            </a:r>
            <a:endParaRPr lang="en-US" sz="1000" dirty="0"/>
          </a:p>
        </p:txBody>
      </p:sp>
      <p:sp>
        <p:nvSpPr>
          <p:cNvPr id="13" name="Text 1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4" name="Text 11"/>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ZOOM MÉTIER 2/3</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Designer web / CDUI : du dessin d'écrans à l'orchestration</a:t>
            </a:r>
            <a:endParaRPr lang="en-US" sz="3000" dirty="0"/>
          </a:p>
        </p:txBody>
      </p:sp>
      <p:sp>
        <p:nvSpPr>
          <p:cNvPr id="4" name="Shape 2"/>
          <p:cNvSpPr/>
          <p:nvPr/>
        </p:nvSpPr>
        <p:spPr>
          <a:xfrm>
            <a:off x="548640" y="1737360"/>
            <a:ext cx="502920" cy="502920"/>
          </a:xfrm>
          <a:prstGeom prst="ellipse">
            <a:avLst/>
          </a:prstGeom>
          <a:solidFill>
            <a:srgbClr val="1E2761"/>
          </a:solidFill>
          <a:ln/>
        </p:spPr>
      </p:sp>
      <p:pic>
        <p:nvPicPr>
          <p:cNvPr id="5" name="Image 0" descr="/home/claude/veille-deck/icons/paint.png">    </p:cNvPr>
          <p:cNvPicPr>
            <a:picLocks noChangeAspect="1"/>
          </p:cNvPicPr>
          <p:nvPr/>
        </p:nvPicPr>
        <p:blipFill>
          <a:blip r:embed="rId1"/>
          <a:stretch>
            <a:fillRect/>
          </a:stretch>
        </p:blipFill>
        <p:spPr>
          <a:xfrm>
            <a:off x="603961" y="1792681"/>
            <a:ext cx="392278" cy="392278"/>
          </a:xfrm>
          <a:prstGeom prst="rect">
            <a:avLst/>
          </a:prstGeom>
        </p:spPr>
      </p:pic>
      <p:sp>
        <p:nvSpPr>
          <p:cNvPr id="6" name="Text 3"/>
          <p:cNvSpPr/>
          <p:nvPr/>
        </p:nvSpPr>
        <p:spPr>
          <a:xfrm>
            <a:off x="1280160" y="1691640"/>
            <a:ext cx="10241280" cy="1371600"/>
          </a:xfrm>
          <a:prstGeom prst="rect">
            <a:avLst/>
          </a:prstGeom>
          <a:noFill/>
          <a:ln/>
        </p:spPr>
        <p:txBody>
          <a:bodyPr wrap="square" lIns="0" tIns="0" rIns="0" bIns="0" rtlCol="0" anchor="t"/>
          <a:lstStyle/>
          <a:p>
            <a:pPr indent="0" marL="0">
              <a:lnSpc>
                <a:spcPct val="125000"/>
              </a:lnSpc>
              <a:buNone/>
            </a:pPr>
            <a:r>
              <a:rPr lang="en-US" sz="1450" dirty="0">
                <a:solidFill>
                  <a:srgbClr val="1F1F1F"/>
                </a:solidFill>
                <a:latin typeface="Calibri" pitchFamily="34" charset="0"/>
                <a:ea typeface="Calibri" pitchFamily="34" charset="-122"/>
                <a:cs typeface="Calibri" pitchFamily="34" charset="-120"/>
              </a:rPr>
              <a:t>Le design system devient le garde-fou qui encadre la génération d'interfaces par l'IA (GenUI). Nouveau rôle émergent : "gouverneur de système de design" — celui qui ajuste les paramètres de génération plutôt que de dessiner chaque écran.</a:t>
            </a:r>
            <a:endParaRPr lang="en-US" sz="1450" dirty="0"/>
          </a:p>
        </p:txBody>
      </p:sp>
      <p:sp>
        <p:nvSpPr>
          <p:cNvPr id="7" name="Shape 4"/>
          <p:cNvSpPr/>
          <p:nvPr/>
        </p:nvSpPr>
        <p:spPr>
          <a:xfrm>
            <a:off x="548640" y="3246120"/>
            <a:ext cx="3611880" cy="2011680"/>
          </a:xfrm>
          <a:prstGeom prst="roundRect">
            <a:avLst>
              <a:gd name="adj" fmla="val 3636"/>
            </a:avLst>
          </a:prstGeom>
          <a:solidFill>
            <a:srgbClr val="FFFFFF"/>
          </a:solidFill>
          <a:ln/>
          <a:effectLst>
            <a:outerShdw sx="100000" sy="100000" kx="0" ky="0" algn="bl" rotWithShape="0" blurRad="101600" dist="38100" dir="5400000">
              <a:srgbClr val="1E2761">
                <a:alpha val="18000"/>
              </a:srgbClr>
            </a:outerShdw>
          </a:effectLst>
        </p:spPr>
      </p:sp>
      <p:sp>
        <p:nvSpPr>
          <p:cNvPr id="8" name="Text 5"/>
          <p:cNvSpPr/>
          <p:nvPr/>
        </p:nvSpPr>
        <p:spPr>
          <a:xfrm>
            <a:off x="685800" y="3355848"/>
            <a:ext cx="3337560" cy="100584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11e</a:t>
            </a:r>
            <a:endParaRPr lang="en-US" sz="3000" dirty="0"/>
          </a:p>
        </p:txBody>
      </p:sp>
      <p:sp>
        <p:nvSpPr>
          <p:cNvPr id="9" name="Text 6"/>
          <p:cNvSpPr/>
          <p:nvPr/>
        </p:nvSpPr>
        <p:spPr>
          <a:xfrm>
            <a:off x="685800" y="4352544"/>
            <a:ext cx="3337560" cy="603504"/>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profession la plus menacée sur 55 pays</a:t>
            </a:r>
            <a:endParaRPr lang="en-US" sz="1150" dirty="0"/>
          </a:p>
        </p:txBody>
      </p:sp>
      <p:sp>
        <p:nvSpPr>
          <p:cNvPr id="10" name="Text 7"/>
          <p:cNvSpPr/>
          <p:nvPr/>
        </p:nvSpPr>
        <p:spPr>
          <a:xfrm>
            <a:off x="685800" y="5001768"/>
            <a:ext cx="333756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World Economic Forum, 2025</a:t>
            </a:r>
            <a:endParaRPr lang="en-US" sz="850" dirty="0"/>
          </a:p>
        </p:txBody>
      </p:sp>
      <p:sp>
        <p:nvSpPr>
          <p:cNvPr id="11" name="Shape 8"/>
          <p:cNvSpPr/>
          <p:nvPr/>
        </p:nvSpPr>
        <p:spPr>
          <a:xfrm>
            <a:off x="4297680" y="3246120"/>
            <a:ext cx="3611880" cy="2011680"/>
          </a:xfrm>
          <a:prstGeom prst="roundRect">
            <a:avLst>
              <a:gd name="adj" fmla="val 3636"/>
            </a:avLst>
          </a:prstGeom>
          <a:solidFill>
            <a:srgbClr val="FFFFFF"/>
          </a:solidFill>
          <a:ln/>
          <a:effectLst>
            <a:outerShdw sx="100000" sy="100000" kx="0" ky="0" algn="bl" rotWithShape="0" blurRad="101600" dist="38100" dir="5400000">
              <a:srgbClr val="1E2761">
                <a:alpha val="18000"/>
              </a:srgbClr>
            </a:outerShdw>
          </a:effectLst>
        </p:spPr>
      </p:sp>
      <p:sp>
        <p:nvSpPr>
          <p:cNvPr id="12" name="Text 9"/>
          <p:cNvSpPr/>
          <p:nvPr/>
        </p:nvSpPr>
        <p:spPr>
          <a:xfrm>
            <a:off x="4434840" y="3355848"/>
            <a:ext cx="3337560" cy="1005840"/>
          </a:xfrm>
          <a:prstGeom prst="rect">
            <a:avLst/>
          </a:prstGeom>
          <a:noFill/>
          <a:ln/>
        </p:spPr>
        <p:txBody>
          <a:bodyPr wrap="square" lIns="0" tIns="0" rIns="0" bIns="0" rtlCol="0" anchor="t"/>
          <a:lstStyle/>
          <a:p>
            <a:pPr algn="l" indent="0" marL="0">
              <a:buNone/>
            </a:pPr>
            <a:r>
              <a:rPr lang="en-US" sz="3000" b="1" dirty="0">
                <a:solidFill>
                  <a:srgbClr val="E8542B"/>
                </a:solidFill>
                <a:latin typeface="Cambria" pitchFamily="34" charset="0"/>
                <a:ea typeface="Cambria" pitchFamily="34" charset="-122"/>
                <a:cs typeface="Cambria" pitchFamily="34" charset="-120"/>
              </a:rPr>
              <a:t>1 pour 4</a:t>
            </a:r>
            <a:endParaRPr lang="en-US" sz="3000" dirty="0"/>
          </a:p>
        </p:txBody>
      </p:sp>
      <p:sp>
        <p:nvSpPr>
          <p:cNvPr id="13" name="Text 10"/>
          <p:cNvSpPr/>
          <p:nvPr/>
        </p:nvSpPr>
        <p:spPr>
          <a:xfrm>
            <a:off x="4434840" y="4352544"/>
            <a:ext cx="3337560" cy="603504"/>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un designer généraliste pilotant l'IA pourrait remplacer 4 spécialistes</a:t>
            </a:r>
            <a:endParaRPr lang="en-US" sz="1150" dirty="0"/>
          </a:p>
        </p:txBody>
      </p:sp>
      <p:sp>
        <p:nvSpPr>
          <p:cNvPr id="14" name="Text 11"/>
          <p:cNvSpPr/>
          <p:nvPr/>
        </p:nvSpPr>
        <p:spPr>
          <a:xfrm>
            <a:off x="4434840" y="5001768"/>
            <a:ext cx="333756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IBM</a:t>
            </a:r>
            <a:endParaRPr lang="en-US" sz="850" dirty="0"/>
          </a:p>
        </p:txBody>
      </p:sp>
      <p:sp>
        <p:nvSpPr>
          <p:cNvPr id="15" name="Shape 12"/>
          <p:cNvSpPr/>
          <p:nvPr/>
        </p:nvSpPr>
        <p:spPr>
          <a:xfrm>
            <a:off x="8046720" y="3246120"/>
            <a:ext cx="3566160" cy="2011680"/>
          </a:xfrm>
          <a:prstGeom prst="roundRect">
            <a:avLst>
              <a:gd name="adj" fmla="val 3636"/>
            </a:avLst>
          </a:prstGeom>
          <a:solidFill>
            <a:srgbClr val="FFFFFF"/>
          </a:solidFill>
          <a:ln/>
          <a:effectLst>
            <a:outerShdw sx="100000" sy="100000" kx="0" ky="0" algn="bl" rotWithShape="0" blurRad="101600" dist="38100" dir="5400000">
              <a:srgbClr val="1E2761">
                <a:alpha val="18000"/>
              </a:srgbClr>
            </a:outerShdw>
          </a:effectLst>
        </p:spPr>
      </p:sp>
      <p:sp>
        <p:nvSpPr>
          <p:cNvPr id="16" name="Text 13"/>
          <p:cNvSpPr/>
          <p:nvPr/>
        </p:nvSpPr>
        <p:spPr>
          <a:xfrm>
            <a:off x="8183880" y="3355848"/>
            <a:ext cx="3291840" cy="100584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91 %</a:t>
            </a:r>
            <a:endParaRPr lang="en-US" sz="3000" dirty="0"/>
          </a:p>
        </p:txBody>
      </p:sp>
      <p:sp>
        <p:nvSpPr>
          <p:cNvPr id="17" name="Text 14"/>
          <p:cNvSpPr/>
          <p:nvPr/>
        </p:nvSpPr>
        <p:spPr>
          <a:xfrm>
            <a:off x="8183880" y="4352544"/>
            <a:ext cx="3291840" cy="603504"/>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des designers disent que l'IA les aide à monter en compétence</a:t>
            </a:r>
            <a:endParaRPr lang="en-US" sz="1150" dirty="0"/>
          </a:p>
        </p:txBody>
      </p:sp>
      <p:sp>
        <p:nvSpPr>
          <p:cNvPr id="18" name="Text 15"/>
          <p:cNvSpPr/>
          <p:nvPr/>
        </p:nvSpPr>
        <p:spPr>
          <a:xfrm>
            <a:off x="8183880" y="5001768"/>
            <a:ext cx="329184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Figma, 2026</a:t>
            </a:r>
            <a:endParaRPr lang="en-US" sz="850" dirty="0"/>
          </a:p>
        </p:txBody>
      </p:sp>
      <p:sp>
        <p:nvSpPr>
          <p:cNvPr id="19" name="Text 16"/>
          <p:cNvSpPr/>
          <p:nvPr/>
        </p:nvSpPr>
        <p:spPr>
          <a:xfrm>
            <a:off x="548640" y="5486400"/>
            <a:ext cx="11064240" cy="548640"/>
          </a:xfrm>
          <a:prstGeom prst="rect">
            <a:avLst/>
          </a:prstGeom>
          <a:noFill/>
          <a:ln/>
        </p:spPr>
        <p:txBody>
          <a:bodyPr wrap="square" lIns="0" tIns="0" rIns="0" bIns="0" rtlCol="0" anchor="ctr"/>
          <a:lstStyle/>
          <a:p>
            <a:pPr indent="0" marL="0">
              <a:lnSpc>
                <a:spcPct val="120000"/>
              </a:lnSpc>
              <a:buNone/>
            </a:pPr>
            <a:r>
              <a:rPr lang="en-US" sz="1250" i="1" dirty="0">
                <a:solidFill>
                  <a:srgbClr val="6B7280"/>
                </a:solidFill>
                <a:latin typeface="Calibri" pitchFamily="34" charset="0"/>
                <a:ea typeface="Calibri" pitchFamily="34" charset="-122"/>
                <a:cs typeface="Calibri" pitchFamily="34" charset="-120"/>
              </a:rPr>
              <a:t>Marché français 2026 : net ralentissement des embauches (APEC) — le portfolio prime sur le diplôme, l'entrée sur le marché se durcit.</a:t>
            </a:r>
            <a:endParaRPr lang="en-US" sz="1250" dirty="0"/>
          </a:p>
        </p:txBody>
      </p:sp>
      <p:sp>
        <p:nvSpPr>
          <p:cNvPr id="20" name="Text 1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21" name="Text 18"/>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FOCUS DESIGNER — GRILLE D'ANALYSE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Les 9 compétences du REAC CDUI face à l'IA</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2697480"/>
                <a:gridCol w="1234440"/>
                <a:gridCol w="3154680"/>
                <a:gridCol w="3474720"/>
              </a:tblGrid>
              <a:tr h="4206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Compétence professionnelle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Ce qui s'automatise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Ce qui reste humain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Illustrations, graphismes, visuels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Génération d'illustrations par l'IA</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Direction artistique et originalité</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Interfaces graphiques et prototypes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Moyen-fort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Wireframes et prototypes générés (GenUI)</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Traduction fidèle du besoin utilisateur</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Animation pour supports de diffusion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Moyen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0A639"/>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Génération d'assets et d'effets visuels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Storytelling, rythme, direction créative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Supports de communication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Mise en page via templates IA</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Charte graphique, précision typographique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Stratégie webmarketing</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Moyen-fort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Rédaction de contenus et newsletters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Stratégie business et connaissance client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Veille pro et montée en compétence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Faible-moyen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2C8C56"/>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Agrégation et synthèse de veille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Montée en compétence de l'équipe</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Intégrer des pages web</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Génération directe HTML/CSS/JS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Accessibilité réelle multi-navigateurs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Adapter des CMS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8542B"/>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Configuration CMS assistée par IA</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Sécurité et choix technique adaptés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r h="420624">
                <a:tc>
                  <a:txBody>
                    <a:bodyPr/>
                    <a:lstStyle/>
                    <a:p>
                      <a:pPr algn="ctr" indent="0" marL="0">
                        <a:buNone/>
                      </a:pPr>
                      <a:r>
                        <a:rPr lang="en-US" sz="1000" b="1" dirty="0">
                          <a:solidFill>
                            <a:srgbClr val="1F1F1F"/>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Optimiser en continu un site web</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Moyen-fort</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2994A"/>
                    </a:solidFill>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Audits SEO automatisés</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algn="l" indent="0" marL="0">
                        <a:buNone/>
                      </a:pPr>
                      <a:r>
                        <a:rPr lang="en-US" sz="1000" dirty="0">
                          <a:solidFill>
                            <a:srgbClr val="1F1F1F"/>
                          </a:solidFill>
                          <a:latin typeface="Calibri" pitchFamily="34" charset="0"/>
                          <a:ea typeface="Calibri" pitchFamily="34" charset="-122"/>
                          <a:cs typeface="Calibri" pitchFamily="34" charset="-120"/>
                        </a:rPr>
                        <a:t>Interprétation des retours, priorisation</a:t>
                      </a:r>
                      <a:endParaRPr lang="en-US" sz="1000" dirty="0">
                        <a:latin typeface="Calibri" charset="0"/>
                        <a:ea typeface="Calibri" charset="0"/>
                        <a:cs typeface="Calibri" charset="0"/>
                      </a:endParaRPr>
                    </a:p>
                  </a:txBody>
                  <a:tcPr marL="63500" marR="63500" marT="25400" marB="25400"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r>
            </a:tbl>
          </a:graphicData>
        </a:graphic>
      </p:graphicFrame>
      <p:sp>
        <p:nvSpPr>
          <p:cNvPr id="5" name="Shape 2"/>
          <p:cNvSpPr/>
          <p:nvPr/>
        </p:nvSpPr>
        <p:spPr>
          <a:xfrm>
            <a:off x="548640" y="5806440"/>
            <a:ext cx="201168" cy="201168"/>
          </a:xfrm>
          <a:prstGeom prst="roundRect">
            <a:avLst>
              <a:gd name="adj" fmla="val 18182"/>
            </a:avLst>
          </a:prstGeom>
          <a:solidFill>
            <a:srgbClr val="2C8C56"/>
          </a:solidFill>
          <a:ln/>
        </p:spPr>
      </p:sp>
      <p:sp>
        <p:nvSpPr>
          <p:cNvPr id="6" name="Text 3"/>
          <p:cNvSpPr/>
          <p:nvPr/>
        </p:nvSpPr>
        <p:spPr>
          <a:xfrm>
            <a:off x="822960" y="576986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Faible-moyen</a:t>
            </a:r>
            <a:endParaRPr lang="en-US" sz="1050" dirty="0"/>
          </a:p>
        </p:txBody>
      </p:sp>
      <p:sp>
        <p:nvSpPr>
          <p:cNvPr id="7" name="Shape 4"/>
          <p:cNvSpPr/>
          <p:nvPr/>
        </p:nvSpPr>
        <p:spPr>
          <a:xfrm>
            <a:off x="2286000" y="5806440"/>
            <a:ext cx="201168" cy="201168"/>
          </a:xfrm>
          <a:prstGeom prst="roundRect">
            <a:avLst>
              <a:gd name="adj" fmla="val 18182"/>
            </a:avLst>
          </a:prstGeom>
          <a:solidFill>
            <a:srgbClr val="E0A639"/>
          </a:solidFill>
          <a:ln/>
        </p:spPr>
      </p:sp>
      <p:sp>
        <p:nvSpPr>
          <p:cNvPr id="8" name="Text 5"/>
          <p:cNvSpPr/>
          <p:nvPr/>
        </p:nvSpPr>
        <p:spPr>
          <a:xfrm>
            <a:off x="2560320" y="576986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Moyen</a:t>
            </a:r>
            <a:endParaRPr lang="en-US" sz="1050" dirty="0"/>
          </a:p>
        </p:txBody>
      </p:sp>
      <p:sp>
        <p:nvSpPr>
          <p:cNvPr id="9" name="Shape 6"/>
          <p:cNvSpPr/>
          <p:nvPr/>
        </p:nvSpPr>
        <p:spPr>
          <a:xfrm>
            <a:off x="4023360" y="5806440"/>
            <a:ext cx="201168" cy="201168"/>
          </a:xfrm>
          <a:prstGeom prst="roundRect">
            <a:avLst>
              <a:gd name="adj" fmla="val 18182"/>
            </a:avLst>
          </a:prstGeom>
          <a:solidFill>
            <a:srgbClr val="F2994A"/>
          </a:solidFill>
          <a:ln/>
        </p:spPr>
      </p:sp>
      <p:sp>
        <p:nvSpPr>
          <p:cNvPr id="10" name="Text 7"/>
          <p:cNvSpPr/>
          <p:nvPr/>
        </p:nvSpPr>
        <p:spPr>
          <a:xfrm>
            <a:off x="4297680" y="576986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Moyen-fort</a:t>
            </a:r>
            <a:endParaRPr lang="en-US" sz="1050" dirty="0"/>
          </a:p>
        </p:txBody>
      </p:sp>
      <p:sp>
        <p:nvSpPr>
          <p:cNvPr id="11" name="Shape 8"/>
          <p:cNvSpPr/>
          <p:nvPr/>
        </p:nvSpPr>
        <p:spPr>
          <a:xfrm>
            <a:off x="5760720" y="5806440"/>
            <a:ext cx="201168" cy="201168"/>
          </a:xfrm>
          <a:prstGeom prst="roundRect">
            <a:avLst>
              <a:gd name="adj" fmla="val 18182"/>
            </a:avLst>
          </a:prstGeom>
          <a:solidFill>
            <a:srgbClr val="E8542B"/>
          </a:solidFill>
          <a:ln/>
        </p:spPr>
      </p:sp>
      <p:sp>
        <p:nvSpPr>
          <p:cNvPr id="12" name="Text 9"/>
          <p:cNvSpPr/>
          <p:nvPr/>
        </p:nvSpPr>
        <p:spPr>
          <a:xfrm>
            <a:off x="6035040" y="5769864"/>
            <a:ext cx="1371600" cy="274320"/>
          </a:xfrm>
          <a:prstGeom prst="rect">
            <a:avLst/>
          </a:prstGeom>
          <a:noFill/>
          <a:ln/>
        </p:spPr>
        <p:txBody>
          <a:bodyPr wrap="square" lIns="0" tIns="0" rIns="0" bIns="0" rtlCol="0" anchor="ctr"/>
          <a:lstStyle/>
          <a:p>
            <a:pPr indent="0" marL="0">
              <a:buNone/>
            </a:pPr>
            <a:r>
              <a:rPr lang="en-US" sz="1050" dirty="0">
                <a:solidFill>
                  <a:srgbClr val="1F1F1F"/>
                </a:solidFill>
                <a:latin typeface="Calibri" pitchFamily="34" charset="0"/>
                <a:ea typeface="Calibri" pitchFamily="34" charset="-122"/>
                <a:cs typeface="Calibri" pitchFamily="34" charset="-120"/>
              </a:rPr>
              <a:t>Fort</a:t>
            </a:r>
            <a:endParaRPr lang="en-US" sz="1050" dirty="0"/>
          </a:p>
        </p:txBody>
      </p:sp>
      <p:sp>
        <p:nvSpPr>
          <p:cNvPr id="13" name="Text 10"/>
          <p:cNvSpPr/>
          <p:nvPr/>
        </p:nvSpPr>
        <p:spPr>
          <a:xfrm>
            <a:off x="548640" y="6108192"/>
            <a:ext cx="11064240" cy="32004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Lecture : plus une compétence est procédurale et normée, plus elle est absorbée par l'IA ; plus elle exige un jugement contextuel, plus elle résiste.</a:t>
            </a:r>
            <a:endParaRPr lang="en-US" sz="950" dirty="0"/>
          </a:p>
        </p:txBody>
      </p:sp>
      <p:sp>
        <p:nvSpPr>
          <p:cNvPr id="14" name="Text 11"/>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5" name="Text 12"/>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11155680" cy="822960"/>
          </a:xfrm>
          <a:prstGeom prst="rect">
            <a:avLst/>
          </a:prstGeom>
          <a:noFill/>
          <a:ln/>
        </p:spPr>
        <p:txBody>
          <a:bodyPr wrap="square" lIns="0" tIns="0" rIns="0" bIns="0" rtlCol="0" anchor="ctr"/>
          <a:lstStyle/>
          <a:p>
            <a:pPr algn="l" indent="0" marL="0">
              <a:buNone/>
            </a:pPr>
            <a:endParaRPr lang="en-US" sz="3000" dirty="0"/>
          </a:p>
        </p:txBody>
      </p:sp>
      <p:sp>
        <p:nvSpPr>
          <p:cNvPr id="3" name="Text 1"/>
          <p:cNvSpPr/>
          <p:nvPr/>
        </p:nvSpPr>
        <p:spPr>
          <a:xfrm>
            <a:off x="548640" y="457200"/>
            <a:ext cx="7315200" cy="365760"/>
          </a:xfrm>
          <a:prstGeom prst="rect">
            <a:avLst/>
          </a:prstGeom>
          <a:noFill/>
          <a:ln/>
        </p:spPr>
        <p:txBody>
          <a:bodyPr wrap="square" lIns="0" tIns="0" rIns="0" bIns="0" rtlCol="0" anchor="ctr"/>
          <a:lstStyle/>
          <a:p>
            <a:pPr indent="0" marL="0">
              <a:buNone/>
            </a:pPr>
            <a:r>
              <a:rPr lang="en-US" sz="1200" b="1" spc="150" kern="0" dirty="0">
                <a:solidFill>
                  <a:srgbClr val="E8542B"/>
                </a:solidFill>
                <a:latin typeface="Calibri" pitchFamily="34" charset="0"/>
                <a:ea typeface="Calibri" pitchFamily="34" charset="-122"/>
                <a:cs typeface="Calibri" pitchFamily="34" charset="-120"/>
              </a:rPr>
              <a:t>LE PLUS EXPOSÉ</a:t>
            </a:r>
            <a:endParaRPr lang="en-US" sz="1200" dirty="0"/>
          </a:p>
        </p:txBody>
      </p:sp>
      <p:sp>
        <p:nvSpPr>
          <p:cNvPr id="4" name="Text 2"/>
          <p:cNvSpPr/>
          <p:nvPr/>
        </p:nvSpPr>
        <p:spPr>
          <a:xfrm>
            <a:off x="548640" y="777240"/>
            <a:ext cx="73152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Rédacteur web</a:t>
            </a:r>
            <a:endParaRPr lang="en-US" sz="3000" dirty="0"/>
          </a:p>
        </p:txBody>
      </p:sp>
      <p:sp>
        <p:nvSpPr>
          <p:cNvPr id="5" name="Shape 3"/>
          <p:cNvSpPr/>
          <p:nvPr/>
        </p:nvSpPr>
        <p:spPr>
          <a:xfrm>
            <a:off x="548640" y="1828800"/>
            <a:ext cx="502920" cy="502920"/>
          </a:xfrm>
          <a:prstGeom prst="ellipse">
            <a:avLst/>
          </a:prstGeom>
          <a:solidFill>
            <a:srgbClr val="E8542B"/>
          </a:solidFill>
          <a:ln/>
        </p:spPr>
      </p:sp>
      <p:pic>
        <p:nvPicPr>
          <p:cNvPr id="6" name="Image 0" descr="/home/claude/veille-deck/icons/pen.png">    </p:cNvPr>
          <p:cNvPicPr>
            <a:picLocks noChangeAspect="1"/>
          </p:cNvPicPr>
          <p:nvPr/>
        </p:nvPicPr>
        <p:blipFill>
          <a:blip r:embed="rId1"/>
          <a:stretch>
            <a:fillRect/>
          </a:stretch>
        </p:blipFill>
        <p:spPr>
          <a:xfrm>
            <a:off x="603961" y="1884121"/>
            <a:ext cx="392278" cy="392278"/>
          </a:xfrm>
          <a:prstGeom prst="rect">
            <a:avLst/>
          </a:prstGeom>
        </p:spPr>
      </p:pic>
      <p:sp>
        <p:nvSpPr>
          <p:cNvPr id="7" name="Text 4"/>
          <p:cNvSpPr/>
          <p:nvPr/>
        </p:nvSpPr>
        <p:spPr>
          <a:xfrm>
            <a:off x="548640" y="2468880"/>
            <a:ext cx="4572000" cy="1280160"/>
          </a:xfrm>
          <a:prstGeom prst="rect">
            <a:avLst/>
          </a:prstGeom>
          <a:noFill/>
          <a:ln/>
        </p:spPr>
        <p:txBody>
          <a:bodyPr wrap="square" lIns="0" tIns="0" rIns="0" bIns="0" rtlCol="0" anchor="ctr"/>
          <a:lstStyle/>
          <a:p>
            <a:pPr indent="0" marL="0">
              <a:buNone/>
            </a:pPr>
            <a:r>
              <a:rPr lang="en-US" sz="7200" b="1" dirty="0">
                <a:solidFill>
                  <a:srgbClr val="E8542B"/>
                </a:solidFill>
                <a:latin typeface="Cambria" pitchFamily="34" charset="0"/>
                <a:ea typeface="Cambria" pitchFamily="34" charset="-122"/>
                <a:cs typeface="Cambria" pitchFamily="34" charset="-120"/>
              </a:rPr>
              <a:t>57 %</a:t>
            </a:r>
            <a:endParaRPr lang="en-US" sz="7200" dirty="0"/>
          </a:p>
        </p:txBody>
      </p:sp>
      <p:sp>
        <p:nvSpPr>
          <p:cNvPr id="8" name="Text 5"/>
          <p:cNvSpPr/>
          <p:nvPr/>
        </p:nvSpPr>
        <p:spPr>
          <a:xfrm>
            <a:off x="548640" y="3749040"/>
            <a:ext cx="45720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des postes potentiellement automatisables</a:t>
            </a:r>
            <a:endParaRPr lang="en-US" sz="1400" dirty="0"/>
          </a:p>
        </p:txBody>
      </p:sp>
      <p:sp>
        <p:nvSpPr>
          <p:cNvPr id="9" name="Text 6"/>
          <p:cNvSpPr/>
          <p:nvPr/>
        </p:nvSpPr>
        <p:spPr>
          <a:xfrm>
            <a:off x="548640" y="4160520"/>
            <a:ext cx="4572000" cy="365760"/>
          </a:xfrm>
          <a:prstGeom prst="rect">
            <a:avLst/>
          </a:prstGeom>
          <a:noFill/>
          <a:ln/>
        </p:spPr>
        <p:txBody>
          <a:bodyPr wrap="square" lIns="0" tIns="0" rIns="0" bIns="0" rtlCol="0" anchor="ctr"/>
          <a:lstStyle/>
          <a:p>
            <a:pPr indent="0" marL="0">
              <a:buNone/>
            </a:pPr>
            <a:r>
              <a:rPr lang="en-US" sz="1050" i="1" dirty="0">
                <a:solidFill>
                  <a:srgbClr val="8B99C9"/>
                </a:solidFill>
                <a:latin typeface="Calibri" pitchFamily="34" charset="0"/>
                <a:ea typeface="Calibri" pitchFamily="34" charset="-122"/>
                <a:cs typeface="Calibri" pitchFamily="34" charset="-120"/>
              </a:rPr>
              <a:t>American AI Jobs Risk Index, Tufts University, mars 2026</a:t>
            </a:r>
            <a:endParaRPr lang="en-US" sz="1050" dirty="0"/>
          </a:p>
        </p:txBody>
      </p:sp>
      <p:sp>
        <p:nvSpPr>
          <p:cNvPr id="10" name="Shape 7"/>
          <p:cNvSpPr/>
          <p:nvPr/>
        </p:nvSpPr>
        <p:spPr>
          <a:xfrm>
            <a:off x="5760720" y="1828800"/>
            <a:ext cx="5760720" cy="3108960"/>
          </a:xfrm>
          <a:prstGeom prst="roundRect">
            <a:avLst>
              <a:gd name="adj" fmla="val 2353"/>
            </a:avLst>
          </a:prstGeom>
          <a:solidFill>
            <a:srgbClr val="263477"/>
          </a:solidFill>
          <a:ln/>
        </p:spPr>
      </p:sp>
      <p:sp>
        <p:nvSpPr>
          <p:cNvPr id="11" name="Text 8"/>
          <p:cNvSpPr/>
          <p:nvPr/>
        </p:nvSpPr>
        <p:spPr>
          <a:xfrm>
            <a:off x="6035040" y="2057400"/>
            <a:ext cx="52120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La mutation attendue</a:t>
            </a:r>
            <a:endParaRPr lang="en-US" sz="1500" dirty="0"/>
          </a:p>
        </p:txBody>
      </p:sp>
      <p:sp>
        <p:nvSpPr>
          <p:cNvPr id="12" name="Text 9"/>
          <p:cNvSpPr/>
          <p:nvPr/>
        </p:nvSpPr>
        <p:spPr>
          <a:xfrm>
            <a:off x="6035040" y="2514600"/>
            <a:ext cx="5212080" cy="15544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Producteur de texte → architecte / gouverneur éditorial
</a:t>
            </a:r>
            <a:endParaRPr lang="en-US" sz="1300" dirty="0"/>
          </a:p>
          <a:p>
            <a:pPr marL="342900" indent="-342900">
              <a:lnSpc>
                <a:spcPct val="1150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Pilotage de workflows hybrides humain-IA
</a:t>
            </a:r>
            <a:endParaRPr lang="en-US" sz="1300" dirty="0"/>
          </a:p>
          <a:p>
            <a:pPr marL="342900" indent="-342900">
              <a:lnSpc>
                <a:spcPct val="115000"/>
              </a:lnSpc>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Maîtrise du GEO et des critères E-E-A-T comme différenciateur</a:t>
            </a:r>
            <a:endParaRPr lang="en-US" sz="1300" dirty="0"/>
          </a:p>
        </p:txBody>
      </p:sp>
      <p:sp>
        <p:nvSpPr>
          <p:cNvPr id="13" name="Text 10"/>
          <p:cNvSpPr/>
          <p:nvPr/>
        </p:nvSpPr>
        <p:spPr>
          <a:xfrm>
            <a:off x="6035040" y="4297680"/>
            <a:ext cx="5212080" cy="457200"/>
          </a:xfrm>
          <a:prstGeom prst="rect">
            <a:avLst/>
          </a:prstGeom>
          <a:noFill/>
          <a:ln/>
        </p:spPr>
        <p:txBody>
          <a:bodyPr wrap="square" lIns="0" tIns="0" rIns="0" bIns="0" rtlCol="0" anchor="ctr"/>
          <a:lstStyle/>
          <a:p>
            <a:pPr indent="0" marL="0">
              <a:buNone/>
            </a:pPr>
            <a:r>
              <a:rPr lang="en-US" sz="1300" i="1" dirty="0">
                <a:solidFill>
                  <a:srgbClr val="E8542B"/>
                </a:solidFill>
                <a:latin typeface="Cambria" pitchFamily="34" charset="0"/>
                <a:ea typeface="Cambria" pitchFamily="34" charset="-122"/>
                <a:cs typeface="Cambria" pitchFamily="34" charset="-120"/>
              </a:rPr>
              <a:t>« L'IA exécute, l'humain gouverne. »</a:t>
            </a:r>
            <a:endParaRPr lang="en-US" sz="1300" dirty="0"/>
          </a:p>
        </p:txBody>
      </p:sp>
      <p:sp>
        <p:nvSpPr>
          <p:cNvPr id="14" name="Text 11"/>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5" name="Text 12"/>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ZOOM MÉTIER 3/3</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Community manager &amp; chef de projet : deux trajectoires opposées</a:t>
            </a:r>
            <a:endParaRPr lang="en-US" sz="3000" dirty="0"/>
          </a:p>
        </p:txBody>
      </p:sp>
      <p:sp>
        <p:nvSpPr>
          <p:cNvPr id="4" name="Shape 2"/>
          <p:cNvSpPr/>
          <p:nvPr/>
        </p:nvSpPr>
        <p:spPr>
          <a:xfrm>
            <a:off x="548640" y="1737360"/>
            <a:ext cx="5349240" cy="4023360"/>
          </a:xfrm>
          <a:prstGeom prst="roundRect">
            <a:avLst>
              <a:gd name="adj" fmla="val 1818"/>
            </a:avLst>
          </a:prstGeom>
          <a:solidFill>
            <a:srgbClr val="FFFFFF"/>
          </a:solidFill>
          <a:ln/>
          <a:effectLst>
            <a:outerShdw sx="100000" sy="100000" kx="0" ky="0" algn="bl" rotWithShape="0" blurRad="101600" dist="38100" dir="5400000">
              <a:srgbClr val="1E2761">
                <a:alpha val="18000"/>
              </a:srgbClr>
            </a:outerShdw>
          </a:effectLst>
        </p:spPr>
      </p:sp>
      <p:sp>
        <p:nvSpPr>
          <p:cNvPr id="5" name="Shape 3"/>
          <p:cNvSpPr/>
          <p:nvPr/>
        </p:nvSpPr>
        <p:spPr>
          <a:xfrm>
            <a:off x="822960" y="1965960"/>
            <a:ext cx="502920" cy="502920"/>
          </a:xfrm>
          <a:prstGeom prst="ellipse">
            <a:avLst/>
          </a:prstGeom>
          <a:solidFill>
            <a:srgbClr val="1E2761"/>
          </a:solidFill>
          <a:ln/>
        </p:spPr>
      </p:sp>
      <p:pic>
        <p:nvPicPr>
          <p:cNvPr id="6" name="Image 0" descr="/home/claude/veille-deck/icons/users.png">    </p:cNvPr>
          <p:cNvPicPr>
            <a:picLocks noChangeAspect="1"/>
          </p:cNvPicPr>
          <p:nvPr/>
        </p:nvPicPr>
        <p:blipFill>
          <a:blip r:embed="rId1"/>
          <a:stretch>
            <a:fillRect/>
          </a:stretch>
        </p:blipFill>
        <p:spPr>
          <a:xfrm>
            <a:off x="878281" y="2021281"/>
            <a:ext cx="392278" cy="392278"/>
          </a:xfrm>
          <a:prstGeom prst="rect">
            <a:avLst/>
          </a:prstGeom>
        </p:spPr>
      </p:pic>
      <p:sp>
        <p:nvSpPr>
          <p:cNvPr id="7" name="Text 4"/>
          <p:cNvSpPr/>
          <p:nvPr/>
        </p:nvSpPr>
        <p:spPr>
          <a:xfrm>
            <a:off x="1508760" y="2011680"/>
            <a:ext cx="411480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Community manager</a:t>
            </a:r>
            <a:endParaRPr lang="en-US" sz="1600" dirty="0"/>
          </a:p>
        </p:txBody>
      </p:sp>
      <p:sp>
        <p:nvSpPr>
          <p:cNvPr id="8" name="Text 5"/>
          <p:cNvSpPr/>
          <p:nvPr/>
        </p:nvSpPr>
        <p:spPr>
          <a:xfrm>
            <a:off x="822960" y="2606040"/>
            <a:ext cx="4800600" cy="1737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Deux pôles qui s'écartent : production/réponses automatisables vs. gestion de crise et nuance culturelle, irremplaçables
</a:t>
            </a:r>
            <a:endParaRPr lang="en-US" sz="1250" dirty="0"/>
          </a:p>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63 % utilisent déjà l'IA pour la création de contenus textuels
</a:t>
            </a:r>
            <a:endParaRPr lang="en-US" sz="1250" dirty="0"/>
          </a:p>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Repositionnement : de créateur de contenu à acteur stratégique</a:t>
            </a:r>
            <a:endParaRPr lang="en-US" sz="1250" dirty="0"/>
          </a:p>
        </p:txBody>
      </p:sp>
      <p:sp>
        <p:nvSpPr>
          <p:cNvPr id="9" name="Text 6"/>
          <p:cNvSpPr/>
          <p:nvPr/>
        </p:nvSpPr>
        <p:spPr>
          <a:xfrm>
            <a:off x="822960" y="4480560"/>
            <a:ext cx="4800600" cy="1097280"/>
          </a:xfrm>
          <a:prstGeom prst="rect">
            <a:avLst/>
          </a:prstGeom>
          <a:noFill/>
          <a:ln/>
        </p:spPr>
        <p:txBody>
          <a:bodyPr wrap="square" lIns="0" tIns="0" rIns="0" bIns="0" rtlCol="0" anchor="ctr"/>
          <a:lstStyle/>
          <a:p>
            <a:pPr indent="0" marL="0">
              <a:lnSpc>
                <a:spcPct val="120000"/>
              </a:lnSpc>
              <a:buNone/>
            </a:pPr>
            <a:r>
              <a:rPr lang="en-US" sz="1150" i="1" dirty="0">
                <a:solidFill>
                  <a:srgbClr val="6B7280"/>
                </a:solidFill>
                <a:latin typeface="Calibri" pitchFamily="34" charset="0"/>
                <a:ea typeface="Calibri" pitchFamily="34" charset="-122"/>
                <a:cs typeface="Calibri" pitchFamily="34" charset="-120"/>
              </a:rPr>
              <a:t>97,8 % déclarent du stress lié à l'activité — salaire moyen ~29 000 €/an</a:t>
            </a:r>
            <a:endParaRPr lang="en-US" sz="1150" dirty="0"/>
          </a:p>
        </p:txBody>
      </p:sp>
      <p:sp>
        <p:nvSpPr>
          <p:cNvPr id="10" name="Shape 7"/>
          <p:cNvSpPr/>
          <p:nvPr/>
        </p:nvSpPr>
        <p:spPr>
          <a:xfrm>
            <a:off x="6172200" y="1737360"/>
            <a:ext cx="5349240" cy="4023360"/>
          </a:xfrm>
          <a:prstGeom prst="roundRect">
            <a:avLst>
              <a:gd name="adj" fmla="val 1818"/>
            </a:avLst>
          </a:prstGeom>
          <a:solidFill>
            <a:srgbClr val="FFFFFF"/>
          </a:solidFill>
          <a:ln/>
          <a:effectLst>
            <a:outerShdw sx="100000" sy="100000" kx="0" ky="0" algn="bl" rotWithShape="0" blurRad="101600" dist="38100" dir="5400000">
              <a:srgbClr val="1E2761">
                <a:alpha val="18000"/>
              </a:srgbClr>
            </a:outerShdw>
          </a:effectLst>
        </p:spPr>
      </p:sp>
      <p:sp>
        <p:nvSpPr>
          <p:cNvPr id="11" name="Shape 8"/>
          <p:cNvSpPr/>
          <p:nvPr/>
        </p:nvSpPr>
        <p:spPr>
          <a:xfrm>
            <a:off x="6446520" y="1965960"/>
            <a:ext cx="502920" cy="502920"/>
          </a:xfrm>
          <a:prstGeom prst="ellipse">
            <a:avLst/>
          </a:prstGeom>
          <a:solidFill>
            <a:srgbClr val="E8542B"/>
          </a:solidFill>
          <a:ln/>
        </p:spPr>
      </p:sp>
      <p:pic>
        <p:nvPicPr>
          <p:cNvPr id="12" name="Image 1" descr="/home/claude/veille-deck/icons/project.png">    </p:cNvPr>
          <p:cNvPicPr>
            <a:picLocks noChangeAspect="1"/>
          </p:cNvPicPr>
          <p:nvPr/>
        </p:nvPicPr>
        <p:blipFill>
          <a:blip r:embed="rId2"/>
          <a:stretch>
            <a:fillRect/>
          </a:stretch>
        </p:blipFill>
        <p:spPr>
          <a:xfrm>
            <a:off x="6501841" y="2021281"/>
            <a:ext cx="392278" cy="392278"/>
          </a:xfrm>
          <a:prstGeom prst="rect">
            <a:avLst/>
          </a:prstGeom>
        </p:spPr>
      </p:pic>
      <p:sp>
        <p:nvSpPr>
          <p:cNvPr id="13" name="Text 9"/>
          <p:cNvSpPr/>
          <p:nvPr/>
        </p:nvSpPr>
        <p:spPr>
          <a:xfrm>
            <a:off x="7132320" y="2011680"/>
            <a:ext cx="411480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Chef de projet web</a:t>
            </a:r>
            <a:endParaRPr lang="en-US" sz="1600" dirty="0"/>
          </a:p>
        </p:txBody>
      </p:sp>
      <p:sp>
        <p:nvSpPr>
          <p:cNvPr id="14" name="Text 10"/>
          <p:cNvSpPr/>
          <p:nvPr/>
        </p:nvSpPr>
        <p:spPr>
          <a:xfrm>
            <a:off x="6446520" y="2606040"/>
            <a:ext cx="4800600" cy="21945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L'IA automatise le suivi et l'analyse prédictive (goulots, dérives) → libère du temps pour l'arbitrage et le leadership
</a:t>
            </a:r>
            <a:endParaRPr lang="en-US" sz="1250" dirty="0"/>
          </a:p>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Émergence d'un rôle hybride "chef de projet IA agentique" (45-70 k€)
</a:t>
            </a:r>
            <a:endParaRPr lang="en-US" sz="1250" dirty="0"/>
          </a:p>
          <a:p>
            <a:pPr marL="342900" indent="-342900">
              <a:lnSpc>
                <a:spcPct val="120000"/>
              </a:lnSpc>
              <a:spcAft>
                <a:spcPts val="800"/>
              </a:spcAft>
              <a:buSzPct val="100000"/>
              <a:buChar char="•"/>
            </a:pPr>
            <a:r>
              <a:rPr lang="en-US" sz="1250" dirty="0">
                <a:solidFill>
                  <a:srgbClr val="1F1F1F"/>
                </a:solidFill>
                <a:latin typeface="Calibri" pitchFamily="34" charset="0"/>
                <a:ea typeface="Calibri" pitchFamily="34" charset="-122"/>
                <a:cs typeface="Calibri" pitchFamily="34" charset="-120"/>
              </a:rPr>
              <a:t>60 % des entreprises le considèrent comme profil clé de leur transformation digitale</a:t>
            </a:r>
            <a:endParaRPr lang="en-US" sz="1250" dirty="0"/>
          </a:p>
        </p:txBody>
      </p:sp>
      <p:sp>
        <p:nvSpPr>
          <p:cNvPr id="15" name="Text 11"/>
          <p:cNvSpPr/>
          <p:nvPr/>
        </p:nvSpPr>
        <p:spPr>
          <a:xfrm>
            <a:off x="6446520" y="5212080"/>
            <a:ext cx="4800600" cy="36576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Source : APEC</a:t>
            </a:r>
            <a:endParaRPr lang="en-US" sz="1050" dirty="0"/>
          </a:p>
        </p:txBody>
      </p:sp>
      <p:sp>
        <p:nvSpPr>
          <p:cNvPr id="16" name="Text 1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17" name="Text 1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CONTEXTE SOCIAL</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À l'échelle macro : la France en chiffres</a:t>
            </a:r>
            <a:endParaRPr lang="en-US" sz="3000" dirty="0"/>
          </a:p>
        </p:txBody>
      </p:sp>
      <p:sp>
        <p:nvSpPr>
          <p:cNvPr id="4" name="Shape 2"/>
          <p:cNvSpPr/>
          <p:nvPr/>
        </p:nvSpPr>
        <p:spPr>
          <a:xfrm>
            <a:off x="548640" y="1737360"/>
            <a:ext cx="502920" cy="502920"/>
          </a:xfrm>
          <a:prstGeom prst="ellipse">
            <a:avLst/>
          </a:prstGeom>
          <a:solidFill>
            <a:srgbClr val="1E2761"/>
          </a:solidFill>
          <a:ln/>
        </p:spPr>
      </p:sp>
      <p:pic>
        <p:nvPicPr>
          <p:cNvPr id="5" name="Image 0" descr="/home/claude/veille-deck/icons/chart.png">    </p:cNvPr>
          <p:cNvPicPr>
            <a:picLocks noChangeAspect="1"/>
          </p:cNvPicPr>
          <p:nvPr/>
        </p:nvPicPr>
        <p:blipFill>
          <a:blip r:embed="rId1"/>
          <a:stretch>
            <a:fillRect/>
          </a:stretch>
        </p:blipFill>
        <p:spPr>
          <a:xfrm>
            <a:off x="603961" y="1792681"/>
            <a:ext cx="392278" cy="392278"/>
          </a:xfrm>
          <a:prstGeom prst="rect">
            <a:avLst/>
          </a:prstGeom>
        </p:spPr>
      </p:pic>
      <p:sp>
        <p:nvSpPr>
          <p:cNvPr id="6" name="Shape 3"/>
          <p:cNvSpPr/>
          <p:nvPr/>
        </p:nvSpPr>
        <p:spPr>
          <a:xfrm>
            <a:off x="548640" y="2514600"/>
            <a:ext cx="2651760" cy="2194560"/>
          </a:xfrm>
          <a:prstGeom prst="roundRect">
            <a:avLst>
              <a:gd name="adj" fmla="val 3333"/>
            </a:avLst>
          </a:prstGeom>
          <a:solidFill>
            <a:srgbClr val="FFFFFF"/>
          </a:solidFill>
          <a:ln/>
          <a:effectLst>
            <a:outerShdw sx="100000" sy="100000" kx="0" ky="0" algn="bl" rotWithShape="0" blurRad="101600" dist="38100" dir="5400000">
              <a:srgbClr val="1E2761">
                <a:alpha val="18000"/>
              </a:srgbClr>
            </a:outerShdw>
          </a:effectLst>
        </p:spPr>
      </p:sp>
      <p:sp>
        <p:nvSpPr>
          <p:cNvPr id="7" name="Text 4"/>
          <p:cNvSpPr/>
          <p:nvPr/>
        </p:nvSpPr>
        <p:spPr>
          <a:xfrm>
            <a:off x="685800" y="2624328"/>
            <a:ext cx="2377440" cy="10972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3,8 %</a:t>
            </a:r>
            <a:endParaRPr lang="en-US" sz="3000" dirty="0"/>
          </a:p>
        </p:txBody>
      </p:sp>
      <p:sp>
        <p:nvSpPr>
          <p:cNvPr id="8" name="Text 5"/>
          <p:cNvSpPr/>
          <p:nvPr/>
        </p:nvSpPr>
        <p:spPr>
          <a:xfrm>
            <a:off x="685800" y="3721608"/>
            <a:ext cx="2377440" cy="658368"/>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de l'emploi français fragilisé par l'IA générative</a:t>
            </a:r>
            <a:endParaRPr lang="en-US" sz="1150" dirty="0"/>
          </a:p>
        </p:txBody>
      </p:sp>
      <p:sp>
        <p:nvSpPr>
          <p:cNvPr id="9" name="Text 6"/>
          <p:cNvSpPr/>
          <p:nvPr/>
        </p:nvSpPr>
        <p:spPr>
          <a:xfrm>
            <a:off x="685800" y="4453128"/>
            <a:ext cx="237744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Coface/OEM, 923 métiers, avril 2026</a:t>
            </a:r>
            <a:endParaRPr lang="en-US" sz="850" dirty="0"/>
          </a:p>
        </p:txBody>
      </p:sp>
      <p:sp>
        <p:nvSpPr>
          <p:cNvPr id="10" name="Shape 7"/>
          <p:cNvSpPr/>
          <p:nvPr/>
        </p:nvSpPr>
        <p:spPr>
          <a:xfrm>
            <a:off x="3383280" y="2514600"/>
            <a:ext cx="2651760" cy="2194560"/>
          </a:xfrm>
          <a:prstGeom prst="roundRect">
            <a:avLst>
              <a:gd name="adj" fmla="val 3333"/>
            </a:avLst>
          </a:prstGeom>
          <a:solidFill>
            <a:srgbClr val="FFFFFF"/>
          </a:solidFill>
          <a:ln/>
          <a:effectLst>
            <a:outerShdw sx="100000" sy="100000" kx="0" ky="0" algn="bl" rotWithShape="0" blurRad="101600" dist="38100" dir="5400000">
              <a:srgbClr val="1E2761">
                <a:alpha val="18000"/>
              </a:srgbClr>
            </a:outerShdw>
          </a:effectLst>
        </p:spPr>
      </p:sp>
      <p:sp>
        <p:nvSpPr>
          <p:cNvPr id="11" name="Text 8"/>
          <p:cNvSpPr/>
          <p:nvPr/>
        </p:nvSpPr>
        <p:spPr>
          <a:xfrm>
            <a:off x="3520440" y="2624328"/>
            <a:ext cx="2377440" cy="10972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93 %</a:t>
            </a:r>
            <a:endParaRPr lang="en-US" sz="3000" dirty="0"/>
          </a:p>
        </p:txBody>
      </p:sp>
      <p:sp>
        <p:nvSpPr>
          <p:cNvPr id="12" name="Text 9"/>
          <p:cNvSpPr/>
          <p:nvPr/>
        </p:nvSpPr>
        <p:spPr>
          <a:xfrm>
            <a:off x="3520440" y="3721608"/>
            <a:ext cx="2377440" cy="658368"/>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des métiers impactés d'ici 2026 ; 10-15 % supprimés, 60-70 % transformés</a:t>
            </a:r>
            <a:endParaRPr lang="en-US" sz="1150" dirty="0"/>
          </a:p>
        </p:txBody>
      </p:sp>
      <p:sp>
        <p:nvSpPr>
          <p:cNvPr id="13" name="Text 10"/>
          <p:cNvSpPr/>
          <p:nvPr/>
        </p:nvSpPr>
        <p:spPr>
          <a:xfrm>
            <a:off x="3520440" y="4453128"/>
            <a:ext cx="237744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Compilation OCDE/McKinsey/FMI</a:t>
            </a:r>
            <a:endParaRPr lang="en-US" sz="850" dirty="0"/>
          </a:p>
        </p:txBody>
      </p:sp>
      <p:sp>
        <p:nvSpPr>
          <p:cNvPr id="14" name="Shape 11"/>
          <p:cNvSpPr/>
          <p:nvPr/>
        </p:nvSpPr>
        <p:spPr>
          <a:xfrm>
            <a:off x="6217920" y="2514600"/>
            <a:ext cx="2651760" cy="2194560"/>
          </a:xfrm>
          <a:prstGeom prst="roundRect">
            <a:avLst>
              <a:gd name="adj" fmla="val 3333"/>
            </a:avLst>
          </a:prstGeom>
          <a:solidFill>
            <a:srgbClr val="FFFFFF"/>
          </a:solidFill>
          <a:ln/>
          <a:effectLst>
            <a:outerShdw sx="100000" sy="100000" kx="0" ky="0" algn="bl" rotWithShape="0" blurRad="101600" dist="38100" dir="5400000">
              <a:srgbClr val="1E2761">
                <a:alpha val="18000"/>
              </a:srgbClr>
            </a:outerShdw>
          </a:effectLst>
        </p:spPr>
      </p:sp>
      <p:sp>
        <p:nvSpPr>
          <p:cNvPr id="15" name="Text 12"/>
          <p:cNvSpPr/>
          <p:nvPr/>
        </p:nvSpPr>
        <p:spPr>
          <a:xfrm>
            <a:off x="6355080" y="2624328"/>
            <a:ext cx="2377440" cy="10972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+25 %</a:t>
            </a:r>
            <a:endParaRPr lang="en-US" sz="3000" dirty="0"/>
          </a:p>
        </p:txBody>
      </p:sp>
      <p:sp>
        <p:nvSpPr>
          <p:cNvPr id="16" name="Text 13"/>
          <p:cNvSpPr/>
          <p:nvPr/>
        </p:nvSpPr>
        <p:spPr>
          <a:xfrm>
            <a:off x="6355080" y="3721608"/>
            <a:ext cx="2377440" cy="658368"/>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de salaire moyen pour les profils maîtrisant les outils IA</a:t>
            </a:r>
            <a:endParaRPr lang="en-US" sz="1150" dirty="0"/>
          </a:p>
        </p:txBody>
      </p:sp>
      <p:sp>
        <p:nvSpPr>
          <p:cNvPr id="17" name="Text 14"/>
          <p:cNvSpPr/>
          <p:nvPr/>
        </p:nvSpPr>
        <p:spPr>
          <a:xfrm>
            <a:off x="6355080" y="4453128"/>
            <a:ext cx="237744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Compilation OCDE/McKinsey/FMI</a:t>
            </a:r>
            <a:endParaRPr lang="en-US" sz="850" dirty="0"/>
          </a:p>
        </p:txBody>
      </p:sp>
      <p:sp>
        <p:nvSpPr>
          <p:cNvPr id="18" name="Shape 15"/>
          <p:cNvSpPr/>
          <p:nvPr/>
        </p:nvSpPr>
        <p:spPr>
          <a:xfrm>
            <a:off x="9052560" y="2514600"/>
            <a:ext cx="2651760" cy="2194560"/>
          </a:xfrm>
          <a:prstGeom prst="roundRect">
            <a:avLst>
              <a:gd name="adj" fmla="val 3333"/>
            </a:avLst>
          </a:prstGeom>
          <a:solidFill>
            <a:srgbClr val="FFFFFF"/>
          </a:solidFill>
          <a:ln/>
          <a:effectLst>
            <a:outerShdw sx="100000" sy="100000" kx="0" ky="0" algn="bl" rotWithShape="0" blurRad="101600" dist="38100" dir="5400000">
              <a:srgbClr val="1E2761">
                <a:alpha val="18000"/>
              </a:srgbClr>
            </a:outerShdw>
          </a:effectLst>
        </p:spPr>
      </p:sp>
      <p:sp>
        <p:nvSpPr>
          <p:cNvPr id="19" name="Text 16"/>
          <p:cNvSpPr/>
          <p:nvPr/>
        </p:nvSpPr>
        <p:spPr>
          <a:xfrm>
            <a:off x="9189720" y="2624328"/>
            <a:ext cx="2377440" cy="10972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48 %</a:t>
            </a:r>
            <a:endParaRPr lang="en-US" sz="3000" dirty="0"/>
          </a:p>
        </p:txBody>
      </p:sp>
      <p:sp>
        <p:nvSpPr>
          <p:cNvPr id="20" name="Text 17"/>
          <p:cNvSpPr/>
          <p:nvPr/>
        </p:nvSpPr>
        <p:spPr>
          <a:xfrm>
            <a:off x="9189720" y="3721608"/>
            <a:ext cx="2377440" cy="658368"/>
          </a:xfrm>
          <a:prstGeom prst="rect">
            <a:avLst/>
          </a:prstGeom>
          <a:noFill/>
          <a:ln/>
        </p:spPr>
        <p:txBody>
          <a:bodyPr wrap="square" lIns="0" tIns="0" rIns="0" bIns="0" rtlCol="0" anchor="t"/>
          <a:lstStyle/>
          <a:p>
            <a:pPr algn="l" indent="0" marL="0">
              <a:buNone/>
            </a:pPr>
            <a:r>
              <a:rPr lang="en-US" sz="1150" dirty="0">
                <a:solidFill>
                  <a:srgbClr val="1F1F1F"/>
                </a:solidFill>
                <a:latin typeface="Calibri" pitchFamily="34" charset="0"/>
                <a:ea typeface="Calibri" pitchFamily="34" charset="-122"/>
                <a:cs typeface="Calibri" pitchFamily="34" charset="-120"/>
              </a:rPr>
              <a:t>des Français utilisent déjà l'IA générative — 4 sur 10 rencontrent des freins d'usage</a:t>
            </a:r>
            <a:endParaRPr lang="en-US" sz="1150" dirty="0"/>
          </a:p>
        </p:txBody>
      </p:sp>
      <p:sp>
        <p:nvSpPr>
          <p:cNvPr id="21" name="Text 18"/>
          <p:cNvSpPr/>
          <p:nvPr/>
        </p:nvSpPr>
        <p:spPr>
          <a:xfrm>
            <a:off x="9189720" y="4453128"/>
            <a:ext cx="2377440" cy="219456"/>
          </a:xfrm>
          <a:prstGeom prst="rect">
            <a:avLst/>
          </a:prstGeom>
          <a:noFill/>
          <a:ln/>
        </p:spPr>
        <p:txBody>
          <a:bodyPr wrap="square" lIns="0" tIns="0" rIns="0" bIns="0" rtlCol="0" anchor="b"/>
          <a:lstStyle/>
          <a:p>
            <a:pPr algn="l" indent="0" marL="0">
              <a:buNone/>
            </a:pPr>
            <a:r>
              <a:rPr lang="en-US" sz="850" i="1" dirty="0">
                <a:solidFill>
                  <a:srgbClr val="6B7280"/>
                </a:solidFill>
                <a:latin typeface="Calibri" pitchFamily="34" charset="0"/>
                <a:ea typeface="Calibri" pitchFamily="34" charset="-122"/>
                <a:cs typeface="Calibri" pitchFamily="34" charset="-120"/>
              </a:rPr>
              <a:t>CREDOC/Arcep, 2026</a:t>
            </a:r>
            <a:endParaRPr lang="en-US" sz="850" dirty="0"/>
          </a:p>
        </p:txBody>
      </p:sp>
      <p:sp>
        <p:nvSpPr>
          <p:cNvPr id="22" name="Text 19"/>
          <p:cNvSpPr/>
          <p:nvPr/>
        </p:nvSpPr>
        <p:spPr>
          <a:xfrm>
            <a:off x="548640" y="5029200"/>
            <a:ext cx="11064240" cy="5486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La fracture numérique se creuse en parallèle de la fracture générationnelle sur l'emploi.</a:t>
            </a:r>
            <a:endParaRPr lang="en-US" sz="1300" dirty="0"/>
          </a:p>
        </p:txBody>
      </p:sp>
      <p:sp>
        <p:nvSpPr>
          <p:cNvPr id="23" name="Text 2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24" name="Text 21"/>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263477"/>
          </a:solidFill>
          <a:ln/>
        </p:spPr>
      </p:sp>
      <p:sp>
        <p:nvSpPr>
          <p:cNvPr id="3" name="Text 1"/>
          <p:cNvSpPr/>
          <p:nvPr/>
        </p:nvSpPr>
        <p:spPr>
          <a:xfrm>
            <a:off x="731520" y="548640"/>
            <a:ext cx="7315200" cy="365760"/>
          </a:xfrm>
          <a:prstGeom prst="rect">
            <a:avLst/>
          </a:prstGeom>
          <a:noFill/>
          <a:ln/>
        </p:spPr>
        <p:txBody>
          <a:bodyPr wrap="square" lIns="0" tIns="0" rIns="0" bIns="0" rtlCol="0" anchor="ctr"/>
          <a:lstStyle/>
          <a:p>
            <a:pPr indent="0" marL="0">
              <a:buNone/>
            </a:pPr>
            <a:r>
              <a:rPr lang="en-US" sz="1200" b="1" spc="150" kern="0" dirty="0">
                <a:solidFill>
                  <a:srgbClr val="E8542B"/>
                </a:solidFill>
                <a:latin typeface="Calibri" pitchFamily="34" charset="0"/>
                <a:ea typeface="Calibri" pitchFamily="34" charset="-122"/>
                <a:cs typeface="Calibri" pitchFamily="34" charset="-120"/>
              </a:rPr>
              <a:t>EN CONCLUSION</a:t>
            </a:r>
            <a:endParaRPr lang="en-US" sz="1200" dirty="0"/>
          </a:p>
        </p:txBody>
      </p:sp>
      <p:sp>
        <p:nvSpPr>
          <p:cNvPr id="4" name="Text 2"/>
          <p:cNvSpPr/>
          <p:nvPr/>
        </p:nvSpPr>
        <p:spPr>
          <a:xfrm>
            <a:off x="731520" y="86868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Deux tensions non résolues</a:t>
            </a:r>
            <a:endParaRPr lang="en-US" sz="3200" dirty="0"/>
          </a:p>
        </p:txBody>
      </p:sp>
      <p:sp>
        <p:nvSpPr>
          <p:cNvPr id="5" name="Shape 3"/>
          <p:cNvSpPr/>
          <p:nvPr/>
        </p:nvSpPr>
        <p:spPr>
          <a:xfrm>
            <a:off x="731520" y="1783080"/>
            <a:ext cx="502920" cy="502920"/>
          </a:xfrm>
          <a:prstGeom prst="ellipse">
            <a:avLst/>
          </a:prstGeom>
          <a:solidFill>
            <a:srgbClr val="334289"/>
          </a:solidFill>
          <a:ln/>
        </p:spPr>
      </p:sp>
      <p:pic>
        <p:nvPicPr>
          <p:cNvPr id="6" name="Image 0" descr="/home/claude/veille-deck/icons/code.png">    </p:cNvPr>
          <p:cNvPicPr>
            <a:picLocks noChangeAspect="1"/>
          </p:cNvPicPr>
          <p:nvPr/>
        </p:nvPicPr>
        <p:blipFill>
          <a:blip r:embed="rId1"/>
          <a:stretch>
            <a:fillRect/>
          </a:stretch>
        </p:blipFill>
        <p:spPr>
          <a:xfrm>
            <a:off x="786841" y="1838401"/>
            <a:ext cx="392278" cy="392278"/>
          </a:xfrm>
          <a:prstGeom prst="rect">
            <a:avLst/>
          </a:prstGeom>
        </p:spPr>
      </p:pic>
      <p:sp>
        <p:nvSpPr>
          <p:cNvPr id="7" name="Text 4"/>
          <p:cNvSpPr/>
          <p:nvPr/>
        </p:nvSpPr>
        <p:spPr>
          <a:xfrm>
            <a:off x="1417320" y="1755648"/>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Le décalage identitaire</a:t>
            </a:r>
            <a:endParaRPr lang="en-US" sz="1700" dirty="0"/>
          </a:p>
        </p:txBody>
      </p:sp>
      <p:sp>
        <p:nvSpPr>
          <p:cNvPr id="8" name="Text 5"/>
          <p:cNvSpPr/>
          <p:nvPr/>
        </p:nvSpPr>
        <p:spPr>
          <a:xfrm>
            <a:off x="1417320" y="2167128"/>
            <a:ext cx="9692640" cy="77724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Les profils tech s'attendent à faire de la tech, et ne s'y retrouvent plus : le code s'écrit de moins en moins, il se supervise (vibe coding).</a:t>
            </a:r>
            <a:endParaRPr lang="en-US" sz="1300" dirty="0"/>
          </a:p>
        </p:txBody>
      </p:sp>
      <p:sp>
        <p:nvSpPr>
          <p:cNvPr id="9" name="Shape 6"/>
          <p:cNvSpPr/>
          <p:nvPr/>
        </p:nvSpPr>
        <p:spPr>
          <a:xfrm>
            <a:off x="731520" y="3200400"/>
            <a:ext cx="502920" cy="502920"/>
          </a:xfrm>
          <a:prstGeom prst="ellipse">
            <a:avLst/>
          </a:prstGeom>
          <a:solidFill>
            <a:srgbClr val="334289"/>
          </a:solidFill>
          <a:ln/>
        </p:spPr>
      </p:sp>
      <p:pic>
        <p:nvPicPr>
          <p:cNvPr id="10" name="Image 1" descr="/home/claude/veille-deck/icons/warning.png">    </p:cNvPr>
          <p:cNvPicPr>
            <a:picLocks noChangeAspect="1"/>
          </p:cNvPicPr>
          <p:nvPr/>
        </p:nvPicPr>
        <p:blipFill>
          <a:blip r:embed="rId2"/>
          <a:stretch>
            <a:fillRect/>
          </a:stretch>
        </p:blipFill>
        <p:spPr>
          <a:xfrm>
            <a:off x="786841" y="3255721"/>
            <a:ext cx="392278" cy="392278"/>
          </a:xfrm>
          <a:prstGeom prst="rect">
            <a:avLst/>
          </a:prstGeom>
        </p:spPr>
      </p:pic>
      <p:sp>
        <p:nvSpPr>
          <p:cNvPr id="11" name="Text 7"/>
          <p:cNvSpPr/>
          <p:nvPr/>
        </p:nvSpPr>
        <p:spPr>
          <a:xfrm>
            <a:off x="1417320" y="3172968"/>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La rupture du pipeline de formation</a:t>
            </a:r>
            <a:endParaRPr lang="en-US" sz="1700" dirty="0"/>
          </a:p>
        </p:txBody>
      </p:sp>
      <p:sp>
        <p:nvSpPr>
          <p:cNvPr id="12" name="Text 8"/>
          <p:cNvSpPr/>
          <p:nvPr/>
        </p:nvSpPr>
        <p:spPr>
          <a:xfrm>
            <a:off x="1417320" y="3584448"/>
            <a:ext cx="9692640" cy="77724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Avant de courir, il faut savoir marcher — mais marcher ne rapporte plus. Les tâches juniors qui formaient les seniors de demain sont les premières absorbées par l'IA.</a:t>
            </a:r>
            <a:endParaRPr lang="en-US" sz="1300" dirty="0"/>
          </a:p>
        </p:txBody>
      </p:sp>
      <p:sp>
        <p:nvSpPr>
          <p:cNvPr id="13" name="Shape 9"/>
          <p:cNvSpPr/>
          <p:nvPr/>
        </p:nvSpPr>
        <p:spPr>
          <a:xfrm>
            <a:off x="731520" y="4663440"/>
            <a:ext cx="10515600" cy="0"/>
          </a:xfrm>
          <a:prstGeom prst="line">
            <a:avLst/>
          </a:prstGeom>
          <a:noFill/>
          <a:ln w="12700">
            <a:solidFill>
              <a:srgbClr val="334289"/>
            </a:solidFill>
            <a:prstDash val="solid"/>
          </a:ln>
        </p:spPr>
      </p:sp>
      <p:sp>
        <p:nvSpPr>
          <p:cNvPr id="14" name="Text 10"/>
          <p:cNvSpPr/>
          <p:nvPr/>
        </p:nvSpPr>
        <p:spPr>
          <a:xfrm>
            <a:off x="731520" y="4846320"/>
            <a:ext cx="10515600" cy="731520"/>
          </a:xfrm>
          <a:prstGeom prst="rect">
            <a:avLst/>
          </a:prstGeom>
          <a:noFill/>
          <a:ln/>
        </p:spPr>
        <p:txBody>
          <a:bodyPr wrap="square" lIns="0" tIns="0" rIns="0" bIns="0" rtlCol="0" anchor="ctr"/>
          <a:lstStyle/>
          <a:p>
            <a:pPr indent="0" marL="0">
              <a:lnSpc>
                <a:spcPct val="120000"/>
              </a:lnSpc>
              <a:buNone/>
            </a:pPr>
            <a:r>
              <a:rPr lang="en-US" sz="1700" i="1" dirty="0">
                <a:solidFill>
                  <a:srgbClr val="FFFFFF"/>
                </a:solidFill>
                <a:latin typeface="Cambria" pitchFamily="34" charset="0"/>
                <a:ea typeface="Cambria" pitchFamily="34" charset="-122"/>
                <a:cs typeface="Cambria" pitchFamily="34" charset="-120"/>
              </a:rPr>
              <a:t>La porte d'entrée ne se contente pas de se rétrécir : elle coupe la chaîne de transmission du métier lui-même.</a:t>
            </a:r>
            <a:endParaRPr lang="en-US" sz="1700" dirty="0"/>
          </a:p>
        </p:txBody>
      </p:sp>
      <p:sp>
        <p:nvSpPr>
          <p:cNvPr id="15" name="Text 11"/>
          <p:cNvSpPr/>
          <p:nvPr/>
        </p:nvSpPr>
        <p:spPr>
          <a:xfrm>
            <a:off x="731520" y="5943600"/>
            <a:ext cx="7315200" cy="457200"/>
          </a:xfrm>
          <a:prstGeom prst="rect">
            <a:avLst/>
          </a:prstGeom>
          <a:noFill/>
          <a:ln/>
        </p:spPr>
        <p:txBody>
          <a:bodyPr wrap="square" lIns="0" tIns="0" rIns="0" bIns="0" rtlCol="0" anchor="ctr"/>
          <a:lstStyle/>
          <a:p>
            <a:pPr indent="0" marL="0">
              <a:buNone/>
            </a:pPr>
            <a:r>
              <a:rPr lang="en-US" sz="1400" b="1" dirty="0">
                <a:solidFill>
                  <a:srgbClr val="E8542B"/>
                </a:solidFill>
                <a:latin typeface="Calibri" pitchFamily="34" charset="0"/>
                <a:ea typeface="Calibri" pitchFamily="34" charset="-122"/>
                <a:cs typeface="Calibri" pitchFamily="34" charset="-120"/>
              </a:rPr>
              <a:t>Questions &amp; discussion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algn="l" indent="0" marL="0">
              <a:buNone/>
            </a:pPr>
            <a:r>
              <a:rPr lang="en-US" sz="1200" b="1" spc="100" kern="0" dirty="0">
                <a:solidFill>
                  <a:srgbClr val="E8542B"/>
                </a:solidFill>
                <a:latin typeface="Calibri" pitchFamily="34" charset="0"/>
                <a:ea typeface="Calibri" pitchFamily="34" charset="-122"/>
                <a:cs typeface="Calibri" pitchFamily="34" charset="-120"/>
              </a:rPr>
              <a:t>BIBLIOGRAPHIE</a:t>
            </a:r>
            <a:endParaRPr lang="en-US" sz="1200" dirty="0"/>
          </a:p>
        </p:txBody>
      </p:sp>
      <p:sp>
        <p:nvSpPr>
          <p:cNvPr id="3" name="Text 1"/>
          <p:cNvSpPr/>
          <p:nvPr/>
        </p:nvSpPr>
        <p:spPr>
          <a:xfrm>
            <a:off x="548640" y="713232"/>
            <a:ext cx="11155680" cy="82296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Sources</a:t>
            </a:r>
            <a:endParaRPr lang="en-US" sz="3000" dirty="0"/>
          </a:p>
        </p:txBody>
      </p:sp>
      <p:sp>
        <p:nvSpPr>
          <p:cNvPr id="4" name="Text 2"/>
          <p:cNvSpPr/>
          <p:nvPr/>
        </p:nvSpPr>
        <p:spPr>
          <a:xfrm>
            <a:off x="548640" y="146304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Contexte — GEO et robots IA</a:t>
            </a:r>
            <a:endParaRPr lang="en-US" sz="1200" dirty="0"/>
          </a:p>
        </p:txBody>
      </p:sp>
      <p:sp>
        <p:nvSpPr>
          <p:cNvPr id="5" name="Text 3"/>
          <p:cNvSpPr/>
          <p:nvPr/>
        </p:nvSpPr>
        <p:spPr>
          <a:xfrm>
            <a:off x="548640" y="1755648"/>
            <a:ext cx="5349240" cy="34747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blogdunumerique.com — robots IA et blocage des sites</a:t>
            </a:r>
            <a:endParaRPr lang="en-US" sz="850" dirty="0"/>
          </a:p>
        </p:txBody>
      </p:sp>
      <p:sp>
        <p:nvSpPr>
          <p:cNvPr id="6" name="Text 4"/>
          <p:cNvSpPr/>
          <p:nvPr/>
        </p:nvSpPr>
        <p:spPr>
          <a:xfrm>
            <a:off x="548640" y="210312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Recrutement des juniors</a:t>
            </a:r>
            <a:endParaRPr lang="en-US" sz="1200" dirty="0"/>
          </a:p>
        </p:txBody>
      </p:sp>
      <p:sp>
        <p:nvSpPr>
          <p:cNvPr id="7" name="Text 5"/>
          <p:cNvSpPr/>
          <p:nvPr/>
        </p:nvSpPr>
        <p:spPr>
          <a:xfrm>
            <a:off x="548640" y="2395728"/>
            <a:ext cx="5349240" cy="859536"/>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lemondeinformatique.fr — Stanford Digital Economy Lab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blogdumoderateur.com — note de conjoncture INSEE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lessentieldeleco.fr — chiffres de recrutement APEC</a:t>
            </a:r>
            <a:endParaRPr lang="en-US" sz="850" dirty="0"/>
          </a:p>
        </p:txBody>
      </p:sp>
      <p:sp>
        <p:nvSpPr>
          <p:cNvPr id="8" name="Text 6"/>
          <p:cNvSpPr/>
          <p:nvPr/>
        </p:nvSpPr>
        <p:spPr>
          <a:xfrm>
            <a:off x="548640" y="324612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Développeur web</a:t>
            </a:r>
            <a:endParaRPr lang="en-US" sz="1200" dirty="0"/>
          </a:p>
        </p:txBody>
      </p:sp>
      <p:sp>
        <p:nvSpPr>
          <p:cNvPr id="9" name="Text 7"/>
          <p:cNvSpPr/>
          <p:nvPr/>
        </p:nvSpPr>
        <p:spPr>
          <a:xfrm>
            <a:off x="548640" y="3538728"/>
            <a:ext cx="5349240" cy="34747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bienvenum.org — l'IA peut-elle remplacer le développeur web ?</a:t>
            </a:r>
            <a:endParaRPr lang="en-US" sz="850" dirty="0"/>
          </a:p>
        </p:txBody>
      </p:sp>
      <p:sp>
        <p:nvSpPr>
          <p:cNvPr id="10" name="Text 8"/>
          <p:cNvSpPr/>
          <p:nvPr/>
        </p:nvSpPr>
        <p:spPr>
          <a:xfrm>
            <a:off x="548640" y="388620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Designer web / CDUI</a:t>
            </a:r>
            <a:endParaRPr lang="en-US" sz="1200" dirty="0"/>
          </a:p>
        </p:txBody>
      </p:sp>
      <p:sp>
        <p:nvSpPr>
          <p:cNvPr id="11" name="Text 9"/>
          <p:cNvSpPr/>
          <p:nvPr/>
        </p:nvSpPr>
        <p:spPr>
          <a:xfrm>
            <a:off x="548640" y="4178808"/>
            <a:ext cx="5349240" cy="603504"/>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jcvs.org — l'avenir des designers UX-UI face à l'IA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ux-ui.fr — marché de l'emploi UX designer</a:t>
            </a:r>
            <a:endParaRPr lang="en-US" sz="850" dirty="0"/>
          </a:p>
        </p:txBody>
      </p:sp>
      <p:sp>
        <p:nvSpPr>
          <p:cNvPr id="12" name="Text 10"/>
          <p:cNvSpPr/>
          <p:nvPr/>
        </p:nvSpPr>
        <p:spPr>
          <a:xfrm>
            <a:off x="548640" y="484632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Référentiels officiels (REAC)</a:t>
            </a:r>
            <a:endParaRPr lang="en-US" sz="1200" dirty="0"/>
          </a:p>
        </p:txBody>
      </p:sp>
      <p:sp>
        <p:nvSpPr>
          <p:cNvPr id="13" name="Text 11"/>
          <p:cNvSpPr/>
          <p:nvPr/>
        </p:nvSpPr>
        <p:spPr>
          <a:xfrm>
            <a:off x="548640" y="5138928"/>
            <a:ext cx="5349240" cy="859536"/>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travail-emploi.gouv.fr — REAC TP-01280, Développeur web et web mobile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travail-emploi.gouv.fr — REAC TP-01281, Concepteur développeur d'applications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travail-emploi.gouv.fr — REAC TP-01411, Concepteur designer UI</a:t>
            </a:r>
            <a:endParaRPr lang="en-US" sz="850" dirty="0"/>
          </a:p>
        </p:txBody>
      </p:sp>
      <p:sp>
        <p:nvSpPr>
          <p:cNvPr id="14" name="Text 12"/>
          <p:cNvSpPr/>
          <p:nvPr/>
        </p:nvSpPr>
        <p:spPr>
          <a:xfrm>
            <a:off x="6172200" y="146304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Rédacteur web</a:t>
            </a:r>
            <a:endParaRPr lang="en-US" sz="1200" dirty="0"/>
          </a:p>
        </p:txBody>
      </p:sp>
      <p:sp>
        <p:nvSpPr>
          <p:cNvPr id="15" name="Text 13"/>
          <p:cNvSpPr/>
          <p:nvPr/>
        </p:nvSpPr>
        <p:spPr>
          <a:xfrm>
            <a:off x="6172200" y="1755648"/>
            <a:ext cx="5349240" cy="34747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journaldunet.com — risque IA sur les métiers cognitifs</a:t>
            </a:r>
            <a:endParaRPr lang="en-US" sz="850" dirty="0"/>
          </a:p>
        </p:txBody>
      </p:sp>
      <p:sp>
        <p:nvSpPr>
          <p:cNvPr id="16" name="Text 14"/>
          <p:cNvSpPr/>
          <p:nvPr/>
        </p:nvSpPr>
        <p:spPr>
          <a:xfrm>
            <a:off x="6172200" y="210312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Community manager &amp; chef de projet</a:t>
            </a:r>
            <a:endParaRPr lang="en-US" sz="1200" dirty="0"/>
          </a:p>
        </p:txBody>
      </p:sp>
      <p:sp>
        <p:nvSpPr>
          <p:cNvPr id="17" name="Text 15"/>
          <p:cNvSpPr/>
          <p:nvPr/>
        </p:nvSpPr>
        <p:spPr>
          <a:xfrm>
            <a:off x="6172200" y="2395728"/>
            <a:ext cx="5349240" cy="859536"/>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comdigitale.blog — salaires, IA et santé mentale des CM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journalducm.com — community management et IA en 2026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abondance.com — IA agentique et nouveaux métiers du web</a:t>
            </a:r>
            <a:endParaRPr lang="en-US" sz="850" dirty="0"/>
          </a:p>
        </p:txBody>
      </p:sp>
      <p:sp>
        <p:nvSpPr>
          <p:cNvPr id="18" name="Text 16"/>
          <p:cNvSpPr/>
          <p:nvPr/>
        </p:nvSpPr>
        <p:spPr>
          <a:xfrm>
            <a:off x="6172200" y="3246120"/>
            <a:ext cx="53492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Chiffres macro France</a:t>
            </a:r>
            <a:endParaRPr lang="en-US" sz="1200" dirty="0"/>
          </a:p>
        </p:txBody>
      </p:sp>
      <p:sp>
        <p:nvSpPr>
          <p:cNvPr id="19" name="Text 17"/>
          <p:cNvSpPr/>
          <p:nvPr/>
        </p:nvSpPr>
        <p:spPr>
          <a:xfrm>
            <a:off x="6172200" y="3538728"/>
            <a:ext cx="5349240" cy="603504"/>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coface.com — étude Coface/OEM, 923 professions, avril 2026
</a:t>
            </a:r>
            <a:endParaRPr lang="en-US" sz="850" dirty="0"/>
          </a:p>
          <a:p>
            <a:pPr marL="342900" indent="-342900">
              <a:lnSpc>
                <a:spcPct val="105000"/>
              </a:lnSpc>
              <a:spcAft>
                <a:spcPts val="300"/>
              </a:spcAft>
              <a:buSzPct val="100000"/>
              <a:buChar char="•"/>
            </a:pPr>
            <a:r>
              <a:rPr lang="en-US" sz="850" dirty="0">
                <a:solidFill>
                  <a:srgbClr val="3D5AFE"/>
                </a:solidFill>
                <a:latin typeface="Calibri" pitchFamily="34" charset="0"/>
                <a:ea typeface="Calibri" pitchFamily="34" charset="-122"/>
                <a:cs typeface="Calibri" pitchFamily="34" charset="-120"/>
              </a:rPr>
              <a:t>Numeum, CREDOC/Arcep, compilation OCDE/McKinsey/FMI — sources à recouper avant citation formelle</a:t>
            </a:r>
            <a:endParaRPr lang="en-US" sz="85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Veille numérique — Métiers du web &amp; IA — Juillet 2026</a:t>
            </a:r>
            <a:endParaRPr lang="en-US" sz="900" dirty="0"/>
          </a:p>
        </p:txBody>
      </p:sp>
      <p:sp>
        <p:nvSpPr>
          <p:cNvPr id="21" name="Text 1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2026-07-15T06:07:48Z</dcterms:created>
  <dcterms:modified xsi:type="dcterms:W3CDTF">2026-07-15T06:07:48Z</dcterms:modified>
</cp:coreProperties>
</file>